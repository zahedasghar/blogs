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71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713" y="438150"/>
            <a:ext cx="687857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AI Revolution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720501" y="2571750"/>
            <a:ext cx="570299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Made Simple: Your Journey into Tomorrow's Technology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424965" y="3829050"/>
            <a:ext cx="2293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Zahid Asghar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29514" y="4400550"/>
            <a:ext cx="30848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4D03F"/>
                </a:solidFill>
                <a:latin typeface="Arial" pitchFamily="34" charset="0"/>
                <a:cs typeface="Arial" pitchFamily="34" charset="-120"/>
              </a:rPr>
              <a:t>UNICEF, PUNJAB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662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Your Learning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752600"/>
            <a:ext cx="3962400" cy="247650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752600"/>
            <a:ext cx="0" cy="2476500"/>
          </a:xfrm>
          <a:prstGeom prst="line">
            <a:avLst/>
          </a:prstGeom>
          <a:noFill/>
          <a:ln w="5715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19150" y="2057400"/>
            <a:ext cx="33615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9150" y="2514600"/>
            <a:ext cx="329565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 really? Beyond the buzzwords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AI "think"? The magic behind the machine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unleashed - Your new creative partner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1752600"/>
            <a:ext cx="3962400" cy="247650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2975" y="1752600"/>
            <a:ext cx="0" cy="2476500"/>
          </a:xfrm>
          <a:prstGeom prst="line">
            <a:avLst/>
          </a:prstGeom>
          <a:noFill/>
          <a:ln w="571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086350" y="2057400"/>
            <a:ext cx="33615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86350" y="2514600"/>
            <a:ext cx="329565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transformations that inspire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AI tools you can start using today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challenges with responsible AI usage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601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Real Impact from Real People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52823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724323"/>
            <a:ext cx="3962400" cy="1013222"/>
          </a:xfrm>
          <a:prstGeom prst="roundRect">
            <a:avLst>
              <a:gd name="adj" fmla="val 470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724323"/>
            <a:ext cx="0" cy="1013222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23900" y="1991023"/>
            <a:ext cx="35364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hours → 30 minutes for reports" — Marketing Manager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889945"/>
            <a:ext cx="3962400" cy="1013222"/>
          </a:xfrm>
          <a:prstGeom prst="roundRect">
            <a:avLst>
              <a:gd name="adj" fmla="val 470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889945"/>
            <a:ext cx="0" cy="1013222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23900" y="3156645"/>
            <a:ext cx="35364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"Logo in minutes, not days" — Business Owner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4055566"/>
            <a:ext cx="3962400" cy="773311"/>
          </a:xfrm>
          <a:prstGeom prst="roundRect">
            <a:avLst>
              <a:gd name="adj" fmla="val 615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4055566"/>
            <a:ext cx="0" cy="773311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723900" y="4322266"/>
            <a:ext cx="35364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"Students love AI examples" — Professor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24400" y="1809750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Transforms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724400" y="2381250"/>
            <a:ext cx="39624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Communication: Smart emails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Analysis: Instant insights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Strategy: Ideas to action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Speed: 10x faster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Collaboration: AI partner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Learning: Personalized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3915" y="438150"/>
            <a:ext cx="59361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24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Won't Replace You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90252" y="1466850"/>
            <a:ext cx="5963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Someone Using AI Will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66181" y="2533650"/>
            <a:ext cx="5011638" cy="1447800"/>
          </a:xfrm>
          <a:prstGeom prst="roundRect">
            <a:avLst>
              <a:gd name="adj" fmla="val 6579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6391" y="2895600"/>
            <a:ext cx="44512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Harvard Business Review: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46391" y="3352800"/>
            <a:ext cx="4451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"Organizations using AI see 40% productivity gains"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72013" y="4362450"/>
            <a:ext cx="3799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you join the transformation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5378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What IS Artificial Intelligence?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809750"/>
            <a:ext cx="37307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381250"/>
            <a:ext cx="36576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Learning from experience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Reasoning through problems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Understanding language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Recognizing patterns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Making decisions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Adapting to new situations</a:t>
            </a:r>
            <a:endParaRPr lang="en-US" sz="1350" dirty="0"/>
          </a:p>
        </p:txBody>
      </p:sp>
      <p:pic>
        <p:nvPicPr>
          <p:cNvPr id="5" name="Image 0" descr="/tmp/rasterized-gradient-f82da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859459"/>
            <a:ext cx="4267200" cy="2262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4400" y="2164259"/>
            <a:ext cx="37307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Truth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724400" y="2773859"/>
            <a:ext cx="3730752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solves problems the way humans would, but faster, more consistently, and at scale"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AI in Your Daily Life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628775"/>
            <a:ext cx="2336750" cy="1257300"/>
          </a:xfrm>
          <a:prstGeom prst="roundRect">
            <a:avLst>
              <a:gd name="adj" fmla="val 75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62000" y="1647825"/>
            <a:ext cx="2336750" cy="0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71804" y="1933575"/>
            <a:ext cx="19171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71804" y="2352675"/>
            <a:ext cx="1917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03550" y="1495425"/>
            <a:ext cx="2336750" cy="152400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03550" y="1514475"/>
            <a:ext cx="2336750" cy="0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3613355" y="1800225"/>
            <a:ext cx="19171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613355" y="2219325"/>
            <a:ext cx="19171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Recommendations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45101" y="1495425"/>
            <a:ext cx="2336750" cy="152400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45101" y="1514475"/>
            <a:ext cx="2336750" cy="0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254905" y="1800225"/>
            <a:ext cx="19171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254905" y="2219325"/>
            <a:ext cx="19171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Navigation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2000" y="2962275"/>
            <a:ext cx="2336750" cy="152400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62000" y="2981325"/>
            <a:ext cx="233675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971804" y="3267075"/>
            <a:ext cx="19171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71804" y="3686175"/>
            <a:ext cx="19171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Suggestions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03550" y="2962275"/>
            <a:ext cx="2336750" cy="152400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403550" y="2981325"/>
            <a:ext cx="233675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613355" y="3267075"/>
            <a:ext cx="19171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613355" y="3686175"/>
            <a:ext cx="19171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Recommendations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45101" y="3095625"/>
            <a:ext cx="2336750" cy="1257300"/>
          </a:xfrm>
          <a:prstGeom prst="roundRect">
            <a:avLst>
              <a:gd name="adj" fmla="val 757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45101" y="3114675"/>
            <a:ext cx="233675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254905" y="3400425"/>
            <a:ext cx="19171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254905" y="3819525"/>
            <a:ext cx="1917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Assistants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AI Success Stories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91679"/>
            <a:ext cx="8229600" cy="1622971"/>
          </a:xfrm>
          <a:prstGeom prst="roundRect">
            <a:avLst>
              <a:gd name="adj" fmla="val 586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291679"/>
            <a:ext cx="0" cy="1622971"/>
          </a:xfrm>
          <a:prstGeom prst="line">
            <a:avLst/>
          </a:prstGeom>
          <a:noFill/>
          <a:ln w="5715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12440" y="1489770"/>
            <a:ext cx="79317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2016-2020: Breakthrough Years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2440" y="1840260"/>
            <a:ext cx="7776270" cy="8763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AlphaGo (2016):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Strategic thinking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Autopilot (2017):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Autonomous driving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AI (2018):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Cancer detection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990850"/>
            <a:ext cx="8229600" cy="1622971"/>
          </a:xfrm>
          <a:prstGeom prst="roundRect">
            <a:avLst>
              <a:gd name="adj" fmla="val 586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5775" y="2990850"/>
            <a:ext cx="0" cy="1622971"/>
          </a:xfrm>
          <a:prstGeom prst="line">
            <a:avLst/>
          </a:prstGeom>
          <a:noFill/>
          <a:ln w="571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12440" y="3188940"/>
            <a:ext cx="79317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2021-2024: Democratization Era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2440" y="3539430"/>
            <a:ext cx="7776270" cy="8763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(2022):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for everyone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(2023):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Creative AI explosion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AI (2024):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Energy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695450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Process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190750"/>
            <a:ext cx="3962400" cy="2019300"/>
          </a:xfrm>
          <a:prstGeom prst="roundRect">
            <a:avLst>
              <a:gd name="adj" fmla="val 47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0748" y="245745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Training Data → 🔍 Patterns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0748" y="276225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0748" y="306705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Test &amp; Validate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0748" y="337185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0748" y="367665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Predictions → 🔄 Improve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24400" y="1243013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724400" y="1738313"/>
            <a:ext cx="3962400" cy="893415"/>
          </a:xfrm>
          <a:prstGeom prst="roundRect">
            <a:avLst>
              <a:gd name="adj" fmla="val 85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43450" y="1738313"/>
            <a:ext cx="0" cy="893415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914900" y="1928813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Supervised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4900" y="2241203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Spam, Diagnosis, Pricing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24400" y="2753618"/>
            <a:ext cx="3962400" cy="893415"/>
          </a:xfrm>
          <a:prstGeom prst="roundRect">
            <a:avLst>
              <a:gd name="adj" fmla="val 85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43450" y="2753618"/>
            <a:ext cx="0" cy="893415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914900" y="2944118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🕵️ Unsupervised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4900" y="3256508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Segmentation, Recommendations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724400" y="3768923"/>
            <a:ext cx="3962400" cy="893415"/>
          </a:xfrm>
          <a:prstGeom prst="roundRect">
            <a:avLst>
              <a:gd name="adj" fmla="val 85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43450" y="3768923"/>
            <a:ext cx="0" cy="893415"/>
          </a:xfrm>
          <a:prstGeom prst="line">
            <a:avLst/>
          </a:prstGeom>
          <a:noFill/>
          <a:ln w="38100">
            <a:solidFill>
              <a:srgbClr val="2E598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914900" y="3959423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Reinforcement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14900" y="4271814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Games, Robotics, Autonomy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54795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Natural Language 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764060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259360"/>
            <a:ext cx="3962400" cy="1882080"/>
          </a:xfrm>
          <a:prstGeom prst="roundRect">
            <a:avLst>
              <a:gd name="adj" fmla="val 50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5290" y="2457450"/>
            <a:ext cx="3566220" cy="14859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Reading &amp; Understanding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Translation (100+ languages)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Sentiment Analysis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Content Generation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Summarization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1303437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Applications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724400" y="1798737"/>
            <a:ext cx="3962400" cy="620911"/>
          </a:xfrm>
          <a:prstGeom prst="roundRect">
            <a:avLst>
              <a:gd name="adj" fmla="val 1227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40224" y="1989237"/>
            <a:ext cx="37307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Translate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2526209"/>
            <a:ext cx="3962400" cy="620911"/>
          </a:xfrm>
          <a:prstGeom prst="roundRect">
            <a:avLst>
              <a:gd name="adj" fmla="val 1227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0224" y="2716709"/>
            <a:ext cx="37307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 / Siri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24400" y="3253680"/>
            <a:ext cx="3962400" cy="620911"/>
          </a:xfrm>
          <a:prstGeom prst="roundRect">
            <a:avLst>
              <a:gd name="adj" fmla="val 1227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0224" y="3444180"/>
            <a:ext cx="37307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Compose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24400" y="3981152"/>
            <a:ext cx="3962400" cy="620911"/>
          </a:xfrm>
          <a:prstGeom prst="roundRect">
            <a:avLst>
              <a:gd name="adj" fmla="val 1227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0224" y="4171652"/>
            <a:ext cx="37307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Bots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6995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Generative AI: The Creative Revolution</a:t>
            </a:r>
            <a:endParaRPr lang="en-US" sz="2700" dirty="0"/>
          </a:p>
        </p:txBody>
      </p:sp>
      <p:pic>
        <p:nvPicPr>
          <p:cNvPr id="3" name="Image 0" descr="/tmp/rasterized-gradient-e19cd8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3550"/>
            <a:ext cx="4191000" cy="2438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62150"/>
            <a:ext cx="3808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Special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85800" y="2457450"/>
            <a:ext cx="3733800" cy="14859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Creates original content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Learns from billions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Generates in seconds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Adapts to your style</a:t>
            </a:r>
            <a:endParaRPr lang="en-US" sz="1350" dirty="0"/>
          </a:p>
          <a:p>
            <a:pPr marL="80963" indent="-80963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Iterates instantly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53000" y="1083022"/>
            <a:ext cx="3808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953000" y="1578322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972050" y="1578322"/>
            <a:ext cx="0" cy="563612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128171" y="1753493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53000" y="2248495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972050" y="2248495"/>
            <a:ext cx="0" cy="563612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5128171" y="2423666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Training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53000" y="2918668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972050" y="2918668"/>
            <a:ext cx="0" cy="563612"/>
          </a:xfrm>
          <a:prstGeom prst="line">
            <a:avLst/>
          </a:prstGeom>
          <a:noFill/>
          <a:ln w="38100">
            <a:solidFill>
              <a:srgbClr val="2E598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128171" y="3093839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Randomness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53000" y="3588841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972050" y="3588841"/>
            <a:ext cx="0" cy="563612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128171" y="3764012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3000" y="4259014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972050" y="4259014"/>
            <a:ext cx="0" cy="563612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128171" y="4434185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058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Real Tools You Can Use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728043"/>
            <a:ext cx="3962400" cy="1186607"/>
          </a:xfrm>
          <a:prstGeom prst="roundRect">
            <a:avLst>
              <a:gd name="adj" fmla="val 802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751856"/>
            <a:ext cx="3962400" cy="0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85800" y="2042368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3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404170"/>
            <a:ext cx="357530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GPT-5, Claude, Gemini, Llama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4400" y="1606153"/>
            <a:ext cx="3962400" cy="1430387"/>
          </a:xfrm>
          <a:prstGeom prst="roundRect">
            <a:avLst>
              <a:gd name="adj" fmla="val 665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24400" y="1629966"/>
            <a:ext cx="3962400" cy="0"/>
          </a:xfrm>
          <a:prstGeom prst="line">
            <a:avLst/>
          </a:prstGeom>
          <a:noFill/>
          <a:ln w="476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953000" y="1920478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3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Creation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53000" y="2282279"/>
            <a:ext cx="357530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3, Midjourney, Stable Diffusion, Adobe Firefly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88940"/>
            <a:ext cx="3962400" cy="1186607"/>
          </a:xfrm>
          <a:prstGeom prst="roundRect">
            <a:avLst>
              <a:gd name="adj" fmla="val 802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3212753"/>
            <a:ext cx="3962400" cy="0"/>
          </a:xfrm>
          <a:prstGeom prst="line">
            <a:avLst/>
          </a:prstGeom>
          <a:noFill/>
          <a:ln w="47625">
            <a:solidFill>
              <a:srgbClr val="2E598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85800" y="3503265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3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Tools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3865066"/>
            <a:ext cx="357530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Copilot, Murf.ai, RunwayML, Notion AI</a:t>
            </a:r>
            <a:endParaRPr lang="en-US" sz="1200" dirty="0"/>
          </a:p>
        </p:txBody>
      </p:sp>
      <p:pic>
        <p:nvPicPr>
          <p:cNvPr id="15" name="Image 0" descr="/tmp/rasterized-gradient-935139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382119"/>
            <a:ext cx="3962400" cy="8001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83376" y="3648819"/>
            <a:ext cx="3444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exploring these tools this week!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641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Traditional AI vs. Generative 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95388"/>
            <a:ext cx="3990975" cy="3590925"/>
          </a:xfrm>
          <a:prstGeom prst="roundRect">
            <a:avLst>
              <a:gd name="adj" fmla="val 265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195388"/>
            <a:ext cx="0" cy="3590925"/>
          </a:xfrm>
          <a:prstGeom prst="line">
            <a:avLst/>
          </a:prstGeom>
          <a:noFill/>
          <a:ln w="5715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85908" y="1500188"/>
            <a:ext cx="3390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Traditional AI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19150" y="2071688"/>
            <a:ext cx="3390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9150" y="2424113"/>
            <a:ext cx="3324225" cy="2057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 &amp; Predict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Insights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Netflix recommendations, Fraud detection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Structured</a:t>
            </a:r>
            <a:endParaRPr lang="en-US" sz="1350" dirty="0"/>
          </a:p>
        </p:txBody>
      </p:sp>
      <p:pic>
        <p:nvPicPr>
          <p:cNvPr id="8" name="Image 0" descr="/tmp/rasterized-gradient-d6f112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75" y="1328738"/>
            <a:ext cx="3933825" cy="33242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4533" y="1633538"/>
            <a:ext cx="3390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Generative AI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5057775" y="2205038"/>
            <a:ext cx="3390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57775" y="2557463"/>
            <a:ext cx="3324225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&amp; Generate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Original Content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ChatGPT, AI art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Creativity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Diverse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5371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Large Language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46584"/>
            <a:ext cx="3808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LLMs Powerful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084784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2084784"/>
            <a:ext cx="0" cy="563612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32371" y="2259955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Scale: Trillions of words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54957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754957"/>
            <a:ext cx="0" cy="563612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32371" y="2930128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Parameters: Billions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5130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3425130"/>
            <a:ext cx="0" cy="563612"/>
          </a:xfrm>
          <a:prstGeom prst="line">
            <a:avLst/>
          </a:prstGeom>
          <a:noFill/>
          <a:ln w="38100">
            <a:solidFill>
              <a:srgbClr val="2E598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32371" y="3600301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Context understanding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95304"/>
            <a:ext cx="3733800" cy="563612"/>
          </a:xfrm>
          <a:prstGeom prst="roundRect">
            <a:avLst>
              <a:gd name="adj" fmla="val 1352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6250" y="4095304"/>
            <a:ext cx="0" cy="563612"/>
          </a:xfrm>
          <a:prstGeom prst="line">
            <a:avLst/>
          </a:prstGeom>
          <a:noFill/>
          <a:ln w="381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32371" y="4270474"/>
            <a:ext cx="3489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Versatility</a:t>
            </a:r>
            <a:endParaRPr lang="en-US" sz="1200" dirty="0"/>
          </a:p>
        </p:txBody>
      </p:sp>
      <p:pic>
        <p:nvPicPr>
          <p:cNvPr id="16" name="Image 0" descr="/tmp/rasterized-gradient-4dd534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714500"/>
            <a:ext cx="4191000" cy="24765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687062" y="1943100"/>
            <a:ext cx="3808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LLMs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4687062" y="243840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OpenAI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87062" y="274320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Anthropic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87062" y="304800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Google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87062" y="335280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Meta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687062" y="365760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European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8001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Your AI Transformation Mindset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21135"/>
            <a:ext cx="3962400" cy="2724150"/>
          </a:xfrm>
          <a:prstGeom prst="roundRect">
            <a:avLst>
              <a:gd name="adj" fmla="val 3497"/>
            </a:avLst>
          </a:prstGeom>
          <a:solidFill>
            <a:srgbClr val="FFF5F5"/>
          </a:solidFill>
          <a:ln w="28575">
            <a:solidFill>
              <a:srgbClr val="E53E3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7619" y="1554510"/>
            <a:ext cx="3361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Old Thinking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90575" y="2126010"/>
            <a:ext cx="32956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replace me"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too complicated"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"I'll lose my job"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"Only for tech people"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 and see"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1221135"/>
            <a:ext cx="3962400" cy="2724150"/>
          </a:xfrm>
          <a:prstGeom prst="roundRect">
            <a:avLst>
              <a:gd name="adj" fmla="val 3497"/>
            </a:avLst>
          </a:prstGeom>
          <a:solidFill>
            <a:srgbClr val="F0FFF4"/>
          </a:solidFill>
          <a:ln w="28575">
            <a:solidFill>
              <a:srgbClr val="38A1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4819" y="1554510"/>
            <a:ext cx="3361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New Thinking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057775" y="2126010"/>
            <a:ext cx="32956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amplifies my abilities"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 learn the basics"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more valuable with AI"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for everyone"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"Start experimenting now"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4904" y="4328220"/>
            <a:ext cx="83941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Expertise + AI = Unstoppable Results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321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AI Makes Everyone a Specialist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510778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Professionals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082278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348978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Data analysts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007989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2274689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Personalized tutors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933700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Content machines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859411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4126111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Strategic thinkers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586978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724400" y="1158478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3000" y="1425178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Research experts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24400" y="2084189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53000" y="2350889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Educational guides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24400" y="3009900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0" y="3276600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Full teams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24400" y="3935611"/>
            <a:ext cx="3962400" cy="773311"/>
          </a:xfrm>
          <a:prstGeom prst="roundRect">
            <a:avLst>
              <a:gd name="adj" fmla="val 123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53000" y="4202311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Problem solvers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74904" y="43815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replace expertise — it democratizes it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935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Navigating AI Responsibly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4524"/>
            <a:ext cx="3962400" cy="2667000"/>
          </a:xfrm>
          <a:prstGeom prst="roundRect">
            <a:avLst>
              <a:gd name="adj" fmla="val 357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714524"/>
            <a:ext cx="0" cy="2667000"/>
          </a:xfrm>
          <a:prstGeom prst="line">
            <a:avLst/>
          </a:prstGeom>
          <a:noFill/>
          <a:ln w="571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19150" y="1019324"/>
            <a:ext cx="3361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Risks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19150" y="1590824"/>
            <a:ext cx="32956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Over-dependence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Misinformation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Privacy concerns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Algorithmic bias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Job displacement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714524"/>
            <a:ext cx="3962400" cy="2667000"/>
          </a:xfrm>
          <a:prstGeom prst="roundRect">
            <a:avLst>
              <a:gd name="adj" fmla="val 3571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2975" y="714524"/>
            <a:ext cx="0" cy="2667000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086350" y="1019324"/>
            <a:ext cx="3361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Strategy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086350" y="1590824"/>
            <a:ext cx="32956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Verify AI output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Stay critical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Keep learning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Protect data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AI as tool, not crutch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181499"/>
            <a:ext cx="8229600" cy="1504801"/>
          </a:xfrm>
          <a:prstGeom prst="roundRect">
            <a:avLst>
              <a:gd name="adj" fmla="val 633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5775" y="3181499"/>
            <a:ext cx="0" cy="1504801"/>
          </a:xfrm>
          <a:prstGeom prst="line">
            <a:avLst/>
          </a:prstGeom>
          <a:noFill/>
          <a:ln w="5715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742950" y="3448199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for Ethical AI 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2950" y="3836789"/>
            <a:ext cx="786955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Know when using AI | </a:t>
            </a: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Credit AI assistance | </a:t>
            </a: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Double-check info | </a:t>
            </a: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Don't share sensitive data | </a:t>
            </a: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Combine AI with human insight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0430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The Exponential Wave of Change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47763"/>
            <a:ext cx="8229600" cy="152400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2563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Revolutions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5800" y="1947863"/>
            <a:ext cx="777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Fire → 📚 Printing Press → ⚡ Electricity → 💻 Internet → 🤖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824163"/>
            <a:ext cx="3962400" cy="2009775"/>
          </a:xfrm>
          <a:prstGeom prst="roundRect">
            <a:avLst>
              <a:gd name="adj" fmla="val 473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847975"/>
            <a:ext cx="3962400" cy="0"/>
          </a:xfrm>
          <a:prstGeom prst="line">
            <a:avLst/>
          </a:prstGeom>
          <a:noFill/>
          <a:ln w="47625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85800" y="3100388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 Now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424238"/>
            <a:ext cx="3505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of innovation doubling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democratization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transformation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job categories</a:t>
            </a:r>
            <a:endParaRPr lang="en-US" sz="1350" dirty="0"/>
          </a:p>
        </p:txBody>
      </p:sp>
      <p:pic>
        <p:nvPicPr>
          <p:cNvPr id="10" name="Image 0" descr="/tmp/rasterized-gradient-daab2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847975"/>
            <a:ext cx="3962400" cy="19621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53000" y="3076575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 Next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53000" y="3400425"/>
            <a:ext cx="3505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AI interfaces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Hyper-personalization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AI-human collaboration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breakthroughs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7411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 Interactive AI Exploration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13545"/>
            <a:ext cx="3990975" cy="3554611"/>
          </a:xfrm>
          <a:prstGeom prst="roundRect">
            <a:avLst>
              <a:gd name="adj" fmla="val 268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213545"/>
            <a:ext cx="0" cy="3554611"/>
          </a:xfrm>
          <a:prstGeom prst="line">
            <a:avLst/>
          </a:prstGeom>
          <a:noFill/>
          <a:ln w="5715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19150" y="1518345"/>
            <a:ext cx="33907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Explanation Challenge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19150" y="2432745"/>
            <a:ext cx="33907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ChatGPT to explain "inflation" to: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9150" y="2825055"/>
            <a:ext cx="332422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10-year-old child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 school student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economics professor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policy maker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9150" y="4158555"/>
            <a:ext cx="3390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how AI adapts its style</a:t>
            </a:r>
            <a:endParaRPr lang="en-US" sz="1500" dirty="0"/>
          </a:p>
        </p:txBody>
      </p:sp>
      <p:pic>
        <p:nvPicPr>
          <p:cNvPr id="9" name="Image 0" descr="/tmp/rasterized-gradient-5ef3c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75" y="1352550"/>
            <a:ext cx="3933825" cy="3276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57775" y="1657350"/>
            <a:ext cx="33907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Professional Applications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5057775" y="2571750"/>
            <a:ext cx="3324225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GST and inflation relationship"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GenAI lesson plan for business students"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AI regulation policy brief"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4533" y="4019550"/>
            <a:ext cx="3390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exercises this week!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5857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Your Essential AI Toolkit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337667"/>
            <a:ext cx="8229600" cy="1576983"/>
          </a:xfrm>
          <a:prstGeom prst="roundRect">
            <a:avLst>
              <a:gd name="adj" fmla="val 604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9961" y="1520428"/>
            <a:ext cx="802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&amp; Communication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9961" y="1870918"/>
            <a:ext cx="802136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ChatGPT, Jasper, Copy.ai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DALL-E, Canva AI, Midjourney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DeepL, Grammarly, Notion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990850"/>
            <a:ext cx="8229600" cy="1576983"/>
          </a:xfrm>
          <a:prstGeom prst="roundRect">
            <a:avLst>
              <a:gd name="adj" fmla="val 604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9961" y="3173611"/>
            <a:ext cx="802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Productivity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9961" y="3524101"/>
            <a:ext cx="802136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Perplexity, Elicit, Consensus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Zapier AI, Motion, Reclaim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Khan Academy AI, Duolingo Max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61401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Your Learning Journey Continues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626096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Courses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121396"/>
            <a:ext cx="3962400" cy="638026"/>
          </a:xfrm>
          <a:prstGeom prst="roundRect">
            <a:avLst>
              <a:gd name="adj" fmla="val 119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4780" y="2327077"/>
            <a:ext cx="3699784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Fast.ai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57200" y="2881313"/>
            <a:ext cx="3962400" cy="638026"/>
          </a:xfrm>
          <a:prstGeom prst="roundRect">
            <a:avLst>
              <a:gd name="adj" fmla="val 119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4780" y="3086993"/>
            <a:ext cx="3699784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DeepLearning.AI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457200" y="3641229"/>
            <a:ext cx="3962400" cy="638026"/>
          </a:xfrm>
          <a:prstGeom prst="roundRect">
            <a:avLst>
              <a:gd name="adj" fmla="val 119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780" y="3846909"/>
            <a:ext cx="3699784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Google AI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724400" y="1626096"/>
            <a:ext cx="40416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Must-Try Tools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724400" y="2121396"/>
            <a:ext cx="3962400" cy="638026"/>
          </a:xfrm>
          <a:prstGeom prst="roundRect">
            <a:avLst>
              <a:gd name="adj" fmla="val 119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91980" y="2327077"/>
            <a:ext cx="3699784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Conversational AI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724400" y="2881313"/>
            <a:ext cx="3962400" cy="638026"/>
          </a:xfrm>
          <a:prstGeom prst="roundRect">
            <a:avLst>
              <a:gd name="adj" fmla="val 119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1980" y="3086993"/>
            <a:ext cx="3699784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Analytical assistant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724400" y="3641229"/>
            <a:ext cx="3962400" cy="638026"/>
          </a:xfrm>
          <a:prstGeom prst="roundRect">
            <a:avLst>
              <a:gd name="adj" fmla="val 1194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91980" y="3846909"/>
            <a:ext cx="3699784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Midjourney</a:t>
            </a: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Art generation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3751" y="350639"/>
            <a:ext cx="5156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2400"/>
              </a:spcAft>
              <a:buNone/>
            </a:pPr>
            <a:r>
              <a:rPr lang="en-US" sz="45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Takeaways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26455" y="1379339"/>
            <a:ext cx="7290941" cy="3413671"/>
          </a:xfrm>
          <a:prstGeom prst="roundRect">
            <a:avLst>
              <a:gd name="adj" fmla="val 4185"/>
            </a:avLst>
          </a:prstGeom>
          <a:solidFill>
            <a:srgbClr val="FFFFFF">
              <a:alpha val="95000"/>
            </a:srgbClr>
          </a:solidFill>
          <a:ln w="28575">
            <a:solidFill>
              <a:srgbClr val="D4AF3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49036" y="1865114"/>
            <a:ext cx="64457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2400"/>
              </a:spcAft>
              <a:buNone/>
            </a:pPr>
            <a:r>
              <a:rPr lang="en-US" sz="2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Success Formula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12230" y="2489895"/>
            <a:ext cx="6319391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collaboration tool, not a replacement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experiment often, scale gradually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augmenting your unique human skills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curious, stay critical, stay learning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49036" y="3975795"/>
            <a:ext cx="644577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650" b="1" i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time to start was yesterday. The next best time is now.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3830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Coming Next: Your AI Mastery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95400"/>
            <a:ext cx="8229600" cy="1104900"/>
          </a:xfrm>
          <a:prstGeom prst="roundRect">
            <a:avLst>
              <a:gd name="adj" fmla="val 86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6-Hour Journey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2192685"/>
            <a:ext cx="2540050" cy="2343150"/>
          </a:xfrm>
          <a:prstGeom prst="roundRect">
            <a:avLst>
              <a:gd name="adj" fmla="val 406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5775" y="2192685"/>
            <a:ext cx="0" cy="2343150"/>
          </a:xfrm>
          <a:prstGeom prst="line">
            <a:avLst/>
          </a:prstGeom>
          <a:noFill/>
          <a:ln w="5715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42950" y="2421285"/>
            <a:ext cx="2066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2-3: Skills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2950" y="2745135"/>
            <a:ext cx="2066214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2: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 Engineering</a:t>
            </a:r>
            <a:endParaRPr lang="en-US" sz="1500" dirty="0"/>
          </a:p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3: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Hands-on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02050" y="2383185"/>
            <a:ext cx="2540050" cy="1962150"/>
          </a:xfrm>
          <a:prstGeom prst="roundRect">
            <a:avLst>
              <a:gd name="adj" fmla="val 485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30625" y="2383185"/>
            <a:ext cx="0" cy="1962150"/>
          </a:xfrm>
          <a:prstGeom prst="line">
            <a:avLst/>
          </a:prstGeom>
          <a:noFill/>
          <a:ln w="571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587800" y="2611785"/>
            <a:ext cx="2066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4-5: Advanced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7800" y="2935635"/>
            <a:ext cx="20662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4: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 &amp; Analysis</a:t>
            </a:r>
            <a:endParaRPr lang="en-US" sz="1500" dirty="0"/>
          </a:p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5:</a:t>
            </a: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Workflows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46899" y="2192685"/>
            <a:ext cx="2540050" cy="2343150"/>
          </a:xfrm>
          <a:prstGeom prst="roundRect">
            <a:avLst>
              <a:gd name="adj" fmla="val 406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75474" y="2192685"/>
            <a:ext cx="0" cy="2343150"/>
          </a:xfrm>
          <a:prstGeom prst="line">
            <a:avLst/>
          </a:prstGeom>
          <a:noFill/>
          <a:ln w="57150">
            <a:solidFill>
              <a:srgbClr val="2E598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432649" y="2421285"/>
            <a:ext cx="2066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6: Strategic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32649" y="2745135"/>
            <a:ext cx="2066214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AI Strategy</a:t>
            </a:r>
            <a:endParaRPr lang="en-US" sz="1500" dirty="0"/>
          </a:p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Professional Applications</a:t>
            </a:r>
            <a:endParaRPr lang="en-US" sz="1500" dirty="0"/>
          </a:p>
          <a:p>
            <a:pPr marL="0" indent="0" algn="l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Future-Proofing Career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" y="4328220"/>
            <a:ext cx="83941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Ready to Become an AI Power User?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6029" y="533400"/>
            <a:ext cx="49917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1800"/>
              </a:spcAft>
              <a:buNone/>
            </a:pPr>
            <a:r>
              <a:rPr lang="en-US" sz="72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628205" y="1828800"/>
            <a:ext cx="58874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30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Explore Together!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424857" y="2863516"/>
            <a:ext cx="4294138" cy="1562100"/>
          </a:xfrm>
          <a:prstGeom prst="roundRect">
            <a:avLst>
              <a:gd name="adj" fmla="val 9146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4D03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12242" y="3105150"/>
            <a:ext cx="3719367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zasghar@qau.edu.pk</a:t>
            </a:r>
            <a:endParaRPr lang="en-US" sz="1650" dirty="0"/>
          </a:p>
          <a:p>
            <a:pPr marL="0" indent="0" algn="ctr">
              <a:lnSpc>
                <a:spcPts val="33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🌐 Quaid-i-Azam University, Islamabad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1163</Words>
  <Application>Microsoft Office PowerPoint</Application>
  <PresentationFormat>On-screen Show (16:9)</PresentationFormat>
  <Paragraphs>276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Revolution - GenAI Made Simple</dc:title>
  <dc:subject>Artificial Intelligence Training for Public Officials</dc:subject>
  <dc:creator>Prof. Dr. Zahid Asghar</dc:creator>
  <cp:lastModifiedBy>Prof. Dr. Zahid Asghar</cp:lastModifiedBy>
  <cp:revision>3</cp:revision>
  <dcterms:created xsi:type="dcterms:W3CDTF">2025-11-03T17:12:40Z</dcterms:created>
  <dcterms:modified xsi:type="dcterms:W3CDTF">2025-11-06T01:52:43Z</dcterms:modified>
</cp:coreProperties>
</file>