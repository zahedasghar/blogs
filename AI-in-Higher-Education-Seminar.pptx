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254157" y="1466850"/>
            <a:ext cx="6635687" cy="914400"/>
          </a:xfrm>
          <a:prstGeom prst="rect">
            <a:avLst/>
          </a:prstGeom>
          <a:noFill/>
          <a:ln/>
        </p:spPr>
        <p:txBody>
          <a:bodyPr wrap="square" lIns="0" tIns="0" rIns="0" bIns="0" rtlCol="0" anchor="t"/>
          <a:lstStyle/>
          <a:p>
            <a:pPr algn="ctr" indent="0" marL="0">
              <a:lnSpc>
                <a:spcPts val="3600"/>
              </a:lnSpc>
              <a:spcAft>
                <a:spcPts val="1200"/>
              </a:spcAft>
              <a:buNone/>
            </a:pPr>
            <a:r>
              <a:rPr lang="en-US" sz="3600" b="1" dirty="0">
                <a:solidFill>
                  <a:srgbClr val="FFFFFF"/>
                </a:solidFill>
                <a:latin typeface="Arial" pitchFamily="34" charset="0"/>
                <a:ea typeface="Arial" pitchFamily="34" charset="-122"/>
                <a:cs typeface="Arial" pitchFamily="34" charset="-120"/>
              </a:rPr>
              <a:t>Challenges and Opportunities of AI in Higher Education</a:t>
            </a:r>
            <a:endParaRPr lang="en-US" sz="3600" dirty="0"/>
          </a:p>
        </p:txBody>
      </p:sp>
      <p:sp>
        <p:nvSpPr>
          <p:cNvPr id="3" name="Text 1"/>
          <p:cNvSpPr/>
          <p:nvPr/>
        </p:nvSpPr>
        <p:spPr>
          <a:xfrm>
            <a:off x="1512226" y="2686050"/>
            <a:ext cx="6119399" cy="304800"/>
          </a:xfrm>
          <a:prstGeom prst="rect">
            <a:avLst/>
          </a:prstGeom>
          <a:noFill/>
          <a:ln/>
        </p:spPr>
        <p:txBody>
          <a:bodyPr wrap="square" lIns="0" tIns="0" rIns="0" bIns="0" rtlCol="0" anchor="t"/>
          <a:lstStyle/>
          <a:p>
            <a:pPr algn="ctr" indent="0" marL="0">
              <a:lnSpc>
                <a:spcPts val="2400"/>
              </a:lnSpc>
              <a:buNone/>
            </a:pPr>
            <a:r>
              <a:rPr lang="en-US" sz="1800" b="1" dirty="0">
                <a:solidFill>
                  <a:srgbClr val="FFFFFF"/>
                </a:solidFill>
                <a:latin typeface="Arial" pitchFamily="34" charset="0"/>
                <a:ea typeface="Arial" pitchFamily="34" charset="-122"/>
                <a:cs typeface="Arial" pitchFamily="34" charset="-120"/>
              </a:rPr>
              <a:t>Navigating the Transformation of Learning in the AI Era</a:t>
            </a:r>
            <a:endParaRPr lang="en-US" sz="1800" dirty="0"/>
          </a:p>
        </p:txBody>
      </p:sp>
      <p:sp>
        <p:nvSpPr>
          <p:cNvPr id="4" name="Text 2"/>
          <p:cNvSpPr/>
          <p:nvPr/>
        </p:nvSpPr>
        <p:spPr>
          <a:xfrm>
            <a:off x="2714821" y="3448050"/>
            <a:ext cx="3714357" cy="190500"/>
          </a:xfrm>
          <a:prstGeom prst="rect">
            <a:avLst/>
          </a:prstGeom>
          <a:noFill/>
          <a:ln/>
        </p:spPr>
        <p:txBody>
          <a:bodyPr wrap="square" lIns="0" tIns="0" rIns="0" bIns="0" rtlCol="0" anchor="t"/>
          <a:lstStyle/>
          <a:p>
            <a:pPr algn="ctr" indent="0" marL="0">
              <a:lnSpc>
                <a:spcPts val="1500"/>
              </a:lnSpc>
              <a:spcBef>
                <a:spcPts val="2400"/>
              </a:spcBef>
              <a:spcAft>
                <a:spcPts val="300"/>
              </a:spcAft>
              <a:buNone/>
            </a:pPr>
            <a:r>
              <a:rPr lang="en-US" sz="1050" dirty="0">
                <a:solidFill>
                  <a:srgbClr val="FFFFFF"/>
                </a:solidFill>
                <a:latin typeface="Arial" pitchFamily="34" charset="0"/>
                <a:ea typeface="Arial" pitchFamily="34" charset="-122"/>
                <a:cs typeface="Arial" pitchFamily="34" charset="-120"/>
              </a:rPr>
              <a:t>Expert Insights from Research and Practice • November 2025</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971550"/>
            <a:ext cx="8001000" cy="0"/>
          </a:xfrm>
          <a:prstGeom prst="line">
            <a:avLst/>
          </a:prstGeom>
          <a:noFill/>
          <a:ln w="38100">
            <a:solidFill>
              <a:srgbClr val="5EA8A7"/>
            </a:solidFill>
            <a:prstDash val="solid"/>
          </a:ln>
        </p:spPr>
      </p:sp>
      <p:sp>
        <p:nvSpPr>
          <p:cNvPr id="3" name="Text 1"/>
          <p:cNvSpPr/>
          <p:nvPr/>
        </p:nvSpPr>
        <p:spPr>
          <a:xfrm>
            <a:off x="571500" y="476250"/>
            <a:ext cx="6363653" cy="476250"/>
          </a:xfrm>
          <a:prstGeom prst="rect">
            <a:avLst/>
          </a:prstGeom>
          <a:noFill/>
          <a:ln/>
        </p:spPr>
        <p:txBody>
          <a:bodyPr wrap="square" lIns="0" tIns="0" rIns="0" bIns="95250" rtlCol="0" anchor="t"/>
          <a:lstStyle/>
          <a:p>
            <a:pPr algn="l" indent="0" marL="0">
              <a:lnSpc>
                <a:spcPts val="3000"/>
              </a:lnSpc>
              <a:buNone/>
            </a:pPr>
            <a:r>
              <a:rPr lang="en-US" sz="2700" b="1" dirty="0">
                <a:solidFill>
                  <a:srgbClr val="1C4E80"/>
                </a:solidFill>
                <a:latin typeface="Arial" pitchFamily="34" charset="0"/>
                <a:ea typeface="Arial" pitchFamily="34" charset="-122"/>
                <a:cs typeface="Arial" pitchFamily="34" charset="-120"/>
              </a:rPr>
              <a:t>The AI Revolution in Higher Education</a:t>
            </a:r>
            <a:endParaRPr lang="en-US" sz="2700" dirty="0"/>
          </a:p>
        </p:txBody>
      </p:sp>
      <p:sp>
        <p:nvSpPr>
          <p:cNvPr id="4" name="Text 2"/>
          <p:cNvSpPr/>
          <p:nvPr/>
        </p:nvSpPr>
        <p:spPr>
          <a:xfrm>
            <a:off x="571500" y="1090613"/>
            <a:ext cx="8001000" cy="1213545"/>
          </a:xfrm>
          <a:prstGeom prst="roundRect">
            <a:avLst>
              <a:gd name="adj" fmla="val 3924"/>
            </a:avLst>
          </a:prstGeom>
          <a:solidFill>
            <a:srgbClr val="F8F9FA"/>
          </a:solidFill>
          <a:ln/>
        </p:spPr>
        <p:txBody>
          <a:bodyPr wrap="square" rtlCol="0" anchor="ctr"/>
          <a:lstStyle/>
          <a:p>
            <a:pPr indent="0" marL="0">
              <a:buNone/>
            </a:pPr>
            <a:endParaRPr lang="en-US" dirty="0"/>
          </a:p>
        </p:txBody>
      </p:sp>
      <p:sp>
        <p:nvSpPr>
          <p:cNvPr id="5" name="Shape 3"/>
          <p:cNvSpPr/>
          <p:nvPr/>
        </p:nvSpPr>
        <p:spPr>
          <a:xfrm>
            <a:off x="595313" y="1090613"/>
            <a:ext cx="0" cy="1213545"/>
          </a:xfrm>
          <a:prstGeom prst="line">
            <a:avLst/>
          </a:prstGeom>
          <a:noFill/>
          <a:ln w="47625">
            <a:solidFill>
              <a:srgbClr val="5EA8A7"/>
            </a:solidFill>
            <a:prstDash val="solid"/>
          </a:ln>
        </p:spPr>
      </p:sp>
      <p:sp>
        <p:nvSpPr>
          <p:cNvPr id="6" name="Text 4"/>
          <p:cNvSpPr/>
          <p:nvPr/>
        </p:nvSpPr>
        <p:spPr>
          <a:xfrm>
            <a:off x="809625" y="1319213"/>
            <a:ext cx="7723823" cy="469106"/>
          </a:xfrm>
          <a:prstGeom prst="rect">
            <a:avLst/>
          </a:prstGeom>
          <a:noFill/>
          <a:ln/>
        </p:spPr>
        <p:txBody>
          <a:bodyPr wrap="square" lIns="0" tIns="0" rIns="0" bIns="0" rtlCol="0" anchor="t"/>
          <a:lstStyle/>
          <a:p>
            <a:pPr algn="l" indent="0" marL="0">
              <a:lnSpc>
                <a:spcPts val="1848"/>
              </a:lnSpc>
              <a:spcBef>
                <a:spcPts val="300"/>
              </a:spcBef>
              <a:spcAft>
                <a:spcPts val="300"/>
              </a:spcAft>
              <a:buNone/>
            </a:pPr>
            <a:r>
              <a:rPr lang="en-US" sz="1320" i="1" dirty="0">
                <a:solidFill>
                  <a:srgbClr val="555555"/>
                </a:solidFill>
                <a:latin typeface="Arial" pitchFamily="34" charset="0"/>
                <a:ea typeface="Arial" pitchFamily="34" charset="-122"/>
                <a:cs typeface="Arial" pitchFamily="34" charset="-120"/>
              </a:rPr>
              <a:t>"Egalitarian access to knowledge is at the highest level in the history of our species. What we have is a walking, talking, reference library on any subject."</a:t>
            </a:r>
            <a:endParaRPr lang="en-US" sz="1320" dirty="0"/>
          </a:p>
        </p:txBody>
      </p:sp>
      <p:sp>
        <p:nvSpPr>
          <p:cNvPr id="7" name="Text 5"/>
          <p:cNvSpPr/>
          <p:nvPr/>
        </p:nvSpPr>
        <p:spPr>
          <a:xfrm>
            <a:off x="809625" y="1883569"/>
            <a:ext cx="7723823" cy="191988"/>
          </a:xfrm>
          <a:prstGeom prst="rect">
            <a:avLst/>
          </a:prstGeom>
          <a:noFill/>
          <a:ln/>
        </p:spPr>
        <p:txBody>
          <a:bodyPr wrap="square" lIns="0" tIns="0" rIns="0" bIns="0" rtlCol="0" anchor="t"/>
          <a:lstStyle/>
          <a:p>
            <a:pPr algn="l" indent="0" marL="0">
              <a:lnSpc>
                <a:spcPts val="1512"/>
              </a:lnSpc>
              <a:spcBef>
                <a:spcPts val="750"/>
              </a:spcBef>
              <a:spcAft>
                <a:spcPts val="300"/>
              </a:spcAft>
              <a:buNone/>
            </a:pPr>
            <a:r>
              <a:rPr lang="en-US" sz="1080" dirty="0">
                <a:solidFill>
                  <a:srgbClr val="737373"/>
                </a:solidFill>
                <a:latin typeface="Arial" pitchFamily="34" charset="0"/>
                <a:ea typeface="Arial" pitchFamily="34" charset="-122"/>
                <a:cs typeface="Arial" pitchFamily="34" charset="-120"/>
              </a:rPr>
              <a:t>— Michael Crow, President, Arizona State University</a:t>
            </a:r>
            <a:endParaRPr lang="en-US" sz="1080" dirty="0"/>
          </a:p>
        </p:txBody>
      </p:sp>
      <p:sp>
        <p:nvSpPr>
          <p:cNvPr id="8" name="Text 6"/>
          <p:cNvSpPr/>
          <p:nvPr/>
        </p:nvSpPr>
        <p:spPr>
          <a:xfrm>
            <a:off x="571500" y="2900809"/>
            <a:ext cx="2463850" cy="1336179"/>
          </a:xfrm>
          <a:prstGeom prst="roundRect">
            <a:avLst>
              <a:gd name="adj" fmla="val 5703"/>
            </a:avLst>
          </a:prstGeom>
          <a:solidFill>
            <a:srgbClr val="1C4E80"/>
          </a:solidFill>
          <a:ln/>
        </p:spPr>
        <p:txBody>
          <a:bodyPr wrap="square" rtlCol="0" anchor="ctr"/>
          <a:lstStyle/>
          <a:p>
            <a:pPr indent="0" marL="0">
              <a:buNone/>
            </a:pPr>
            <a:endParaRPr lang="en-US" dirty="0"/>
          </a:p>
        </p:txBody>
      </p:sp>
      <p:sp>
        <p:nvSpPr>
          <p:cNvPr id="9" name="Text 7"/>
          <p:cNvSpPr/>
          <p:nvPr/>
        </p:nvSpPr>
        <p:spPr>
          <a:xfrm>
            <a:off x="789749" y="3177034"/>
            <a:ext cx="2027352" cy="533400"/>
          </a:xfrm>
          <a:prstGeom prst="rect">
            <a:avLst/>
          </a:prstGeom>
          <a:noFill/>
          <a:ln/>
        </p:spPr>
        <p:txBody>
          <a:bodyPr wrap="square" lIns="0" tIns="0" rIns="0" bIns="0" rtlCol="0" anchor="t"/>
          <a:lstStyle/>
          <a:p>
            <a:pPr algn="ctr" indent="0" marL="0">
              <a:lnSpc>
                <a:spcPts val="4200"/>
              </a:lnSpc>
              <a:spcBef>
                <a:spcPts val="300"/>
              </a:spcBef>
              <a:spcAft>
                <a:spcPts val="375"/>
              </a:spcAft>
              <a:buNone/>
            </a:pPr>
            <a:r>
              <a:rPr lang="en-US" sz="3000" b="1" dirty="0">
                <a:solidFill>
                  <a:srgbClr val="FFFFFF"/>
                </a:solidFill>
                <a:latin typeface="Arial" pitchFamily="34" charset="0"/>
                <a:ea typeface="Arial" pitchFamily="34" charset="-122"/>
                <a:cs typeface="Arial" pitchFamily="34" charset="-120"/>
              </a:rPr>
              <a:t>90%</a:t>
            </a:r>
            <a:endParaRPr lang="en-US" sz="3000" dirty="0"/>
          </a:p>
        </p:txBody>
      </p:sp>
      <p:sp>
        <p:nvSpPr>
          <p:cNvPr id="10" name="Text 8"/>
          <p:cNvSpPr/>
          <p:nvPr/>
        </p:nvSpPr>
        <p:spPr>
          <a:xfrm>
            <a:off x="789749" y="3758059"/>
            <a:ext cx="2027352" cy="202704"/>
          </a:xfrm>
          <a:prstGeom prst="rect">
            <a:avLst/>
          </a:prstGeom>
          <a:noFill/>
          <a:ln/>
        </p:spPr>
        <p:txBody>
          <a:bodyPr wrap="square" lIns="0" tIns="0" rIns="0" bIns="0" rtlCol="0" anchor="t"/>
          <a:lstStyle/>
          <a:p>
            <a:pPr algn="ctr" indent="0" marL="0">
              <a:lnSpc>
                <a:spcPts val="1596"/>
              </a:lnSpc>
              <a:spcBef>
                <a:spcPts val="300"/>
              </a:spcBef>
              <a:spcAft>
                <a:spcPts val="300"/>
              </a:spcAft>
              <a:buNone/>
            </a:pPr>
            <a:r>
              <a:rPr lang="en-US" sz="1140" dirty="0">
                <a:solidFill>
                  <a:srgbClr val="FFFFFF"/>
                </a:solidFill>
                <a:latin typeface="Arial" pitchFamily="34" charset="0"/>
                <a:ea typeface="Arial" pitchFamily="34" charset="-122"/>
                <a:cs typeface="Arial" pitchFamily="34" charset="-120"/>
              </a:rPr>
              <a:t>Students aware of ChatGPT</a:t>
            </a:r>
            <a:endParaRPr lang="en-US" sz="1140" dirty="0"/>
          </a:p>
        </p:txBody>
      </p:sp>
      <p:sp>
        <p:nvSpPr>
          <p:cNvPr id="11" name="Text 9"/>
          <p:cNvSpPr/>
          <p:nvPr/>
        </p:nvSpPr>
        <p:spPr>
          <a:xfrm>
            <a:off x="3340150" y="2799457"/>
            <a:ext cx="2463850" cy="1538883"/>
          </a:xfrm>
          <a:prstGeom prst="roundRect">
            <a:avLst>
              <a:gd name="adj" fmla="val 4952"/>
            </a:avLst>
          </a:prstGeom>
          <a:solidFill>
            <a:srgbClr val="5EA8A7"/>
          </a:solidFill>
          <a:ln/>
        </p:spPr>
        <p:txBody>
          <a:bodyPr wrap="square" rtlCol="0" anchor="ctr"/>
          <a:lstStyle/>
          <a:p>
            <a:pPr indent="0" marL="0">
              <a:buNone/>
            </a:pPr>
            <a:endParaRPr lang="en-US" dirty="0"/>
          </a:p>
        </p:txBody>
      </p:sp>
      <p:sp>
        <p:nvSpPr>
          <p:cNvPr id="12" name="Text 10"/>
          <p:cNvSpPr/>
          <p:nvPr/>
        </p:nvSpPr>
        <p:spPr>
          <a:xfrm>
            <a:off x="3558399" y="3075682"/>
            <a:ext cx="2027352" cy="533400"/>
          </a:xfrm>
          <a:prstGeom prst="rect">
            <a:avLst/>
          </a:prstGeom>
          <a:noFill/>
          <a:ln/>
        </p:spPr>
        <p:txBody>
          <a:bodyPr wrap="square" lIns="0" tIns="0" rIns="0" bIns="0" rtlCol="0" anchor="t"/>
          <a:lstStyle/>
          <a:p>
            <a:pPr algn="ctr" indent="0" marL="0">
              <a:lnSpc>
                <a:spcPts val="4200"/>
              </a:lnSpc>
              <a:spcBef>
                <a:spcPts val="300"/>
              </a:spcBef>
              <a:spcAft>
                <a:spcPts val="375"/>
              </a:spcAft>
              <a:buNone/>
            </a:pPr>
            <a:r>
              <a:rPr lang="en-US" sz="3000" b="1" dirty="0">
                <a:solidFill>
                  <a:srgbClr val="FFFFFF"/>
                </a:solidFill>
                <a:latin typeface="Arial" pitchFamily="34" charset="0"/>
                <a:ea typeface="Arial" pitchFamily="34" charset="-122"/>
                <a:cs typeface="Arial" pitchFamily="34" charset="-120"/>
              </a:rPr>
              <a:t>45%</a:t>
            </a:r>
            <a:endParaRPr lang="en-US" sz="3000" dirty="0"/>
          </a:p>
        </p:txBody>
      </p:sp>
      <p:sp>
        <p:nvSpPr>
          <p:cNvPr id="13" name="Text 11"/>
          <p:cNvSpPr/>
          <p:nvPr/>
        </p:nvSpPr>
        <p:spPr>
          <a:xfrm>
            <a:off x="3558399" y="3656707"/>
            <a:ext cx="2027352" cy="405408"/>
          </a:xfrm>
          <a:prstGeom prst="rect">
            <a:avLst/>
          </a:prstGeom>
          <a:noFill/>
          <a:ln/>
        </p:spPr>
        <p:txBody>
          <a:bodyPr wrap="square" lIns="0" tIns="0" rIns="0" bIns="0" rtlCol="0" anchor="t"/>
          <a:lstStyle/>
          <a:p>
            <a:pPr algn="ctr" indent="0" marL="0">
              <a:lnSpc>
                <a:spcPts val="1596"/>
              </a:lnSpc>
              <a:spcBef>
                <a:spcPts val="300"/>
              </a:spcBef>
              <a:spcAft>
                <a:spcPts val="300"/>
              </a:spcAft>
              <a:buNone/>
            </a:pPr>
            <a:r>
              <a:rPr lang="en-US" sz="1140" dirty="0">
                <a:solidFill>
                  <a:srgbClr val="FFFFFF"/>
                </a:solidFill>
                <a:latin typeface="Arial" pitchFamily="34" charset="0"/>
                <a:ea typeface="Arial" pitchFamily="34" charset="-122"/>
                <a:cs typeface="Arial" pitchFamily="34" charset="-120"/>
              </a:rPr>
              <a:t>Students using AI for homework</a:t>
            </a:r>
            <a:endParaRPr lang="en-US" sz="1140" dirty="0"/>
          </a:p>
        </p:txBody>
      </p:sp>
      <p:sp>
        <p:nvSpPr>
          <p:cNvPr id="14" name="Text 12"/>
          <p:cNvSpPr/>
          <p:nvPr/>
        </p:nvSpPr>
        <p:spPr>
          <a:xfrm>
            <a:off x="6108799" y="2799457"/>
            <a:ext cx="2463850" cy="1538883"/>
          </a:xfrm>
          <a:prstGeom prst="roundRect">
            <a:avLst>
              <a:gd name="adj" fmla="val 4952"/>
            </a:avLst>
          </a:prstGeom>
          <a:solidFill>
            <a:srgbClr val="FE4447"/>
          </a:solidFill>
          <a:ln/>
        </p:spPr>
        <p:txBody>
          <a:bodyPr wrap="square" rtlCol="0" anchor="ctr"/>
          <a:lstStyle/>
          <a:p>
            <a:pPr indent="0" marL="0">
              <a:buNone/>
            </a:pPr>
            <a:endParaRPr lang="en-US" dirty="0"/>
          </a:p>
        </p:txBody>
      </p:sp>
      <p:sp>
        <p:nvSpPr>
          <p:cNvPr id="15" name="Text 13"/>
          <p:cNvSpPr/>
          <p:nvPr/>
        </p:nvSpPr>
        <p:spPr>
          <a:xfrm>
            <a:off x="6327048" y="3075682"/>
            <a:ext cx="2027352" cy="533400"/>
          </a:xfrm>
          <a:prstGeom prst="rect">
            <a:avLst/>
          </a:prstGeom>
          <a:noFill/>
          <a:ln/>
        </p:spPr>
        <p:txBody>
          <a:bodyPr wrap="square" lIns="0" tIns="0" rIns="0" bIns="0" rtlCol="0" anchor="t"/>
          <a:lstStyle/>
          <a:p>
            <a:pPr algn="ctr" indent="0" marL="0">
              <a:lnSpc>
                <a:spcPts val="4200"/>
              </a:lnSpc>
              <a:spcBef>
                <a:spcPts val="300"/>
              </a:spcBef>
              <a:spcAft>
                <a:spcPts val="375"/>
              </a:spcAft>
              <a:buNone/>
            </a:pPr>
            <a:r>
              <a:rPr lang="en-US" sz="3000" b="1" dirty="0">
                <a:solidFill>
                  <a:srgbClr val="FFFFFF"/>
                </a:solidFill>
                <a:latin typeface="Arial" pitchFamily="34" charset="0"/>
                <a:ea typeface="Arial" pitchFamily="34" charset="-122"/>
                <a:cs typeface="Arial" pitchFamily="34" charset="-120"/>
              </a:rPr>
              <a:t>68%</a:t>
            </a:r>
            <a:endParaRPr lang="en-US" sz="3000" dirty="0"/>
          </a:p>
        </p:txBody>
      </p:sp>
      <p:sp>
        <p:nvSpPr>
          <p:cNvPr id="16" name="Text 14"/>
          <p:cNvSpPr/>
          <p:nvPr/>
        </p:nvSpPr>
        <p:spPr>
          <a:xfrm>
            <a:off x="6327048" y="3656707"/>
            <a:ext cx="2027352" cy="405408"/>
          </a:xfrm>
          <a:prstGeom prst="rect">
            <a:avLst/>
          </a:prstGeom>
          <a:noFill/>
          <a:ln/>
        </p:spPr>
        <p:txBody>
          <a:bodyPr wrap="square" lIns="0" tIns="0" rIns="0" bIns="0" rtlCol="0" anchor="t"/>
          <a:lstStyle/>
          <a:p>
            <a:pPr algn="ctr" indent="0" marL="0">
              <a:lnSpc>
                <a:spcPts val="1596"/>
              </a:lnSpc>
              <a:spcBef>
                <a:spcPts val="300"/>
              </a:spcBef>
              <a:spcAft>
                <a:spcPts val="300"/>
              </a:spcAft>
              <a:buNone/>
            </a:pPr>
            <a:r>
              <a:rPr lang="en-US" sz="1140" dirty="0">
                <a:solidFill>
                  <a:srgbClr val="FFFFFF"/>
                </a:solidFill>
                <a:latin typeface="Arial" pitchFamily="34" charset="0"/>
                <a:ea typeface="Arial" pitchFamily="34" charset="-122"/>
                <a:cs typeface="Arial" pitchFamily="34" charset="-120"/>
              </a:rPr>
              <a:t>Instructors concerned about integrity</a:t>
            </a:r>
            <a:endParaRPr lang="en-US" sz="1140" dirty="0"/>
          </a:p>
        </p:txBody>
      </p:sp>
      <p:sp>
        <p:nvSpPr>
          <p:cNvPr id="17" name="Text 15"/>
          <p:cNvSpPr/>
          <p:nvPr/>
        </p:nvSpPr>
        <p:spPr>
          <a:xfrm>
            <a:off x="571500" y="4786015"/>
            <a:ext cx="8161020" cy="181273"/>
          </a:xfrm>
          <a:prstGeom prst="rect">
            <a:avLst/>
          </a:prstGeom>
          <a:noFill/>
          <a:ln/>
        </p:spPr>
        <p:txBody>
          <a:bodyPr wrap="square" lIns="0" tIns="0" rIns="0" bIns="0" rtlCol="0" anchor="t"/>
          <a:lstStyle/>
          <a:p>
            <a:pPr algn="l" indent="0" marL="0">
              <a:lnSpc>
                <a:spcPts val="1428"/>
              </a:lnSpc>
              <a:spcBef>
                <a:spcPts val="1125"/>
              </a:spcBef>
              <a:spcAft>
                <a:spcPts val="300"/>
              </a:spcAft>
              <a:buNone/>
            </a:pPr>
            <a:r>
              <a:rPr lang="en-US" sz="1020" dirty="0">
                <a:solidFill>
                  <a:srgbClr val="737373"/>
                </a:solidFill>
                <a:latin typeface="Arial" pitchFamily="34" charset="0"/>
                <a:ea typeface="Arial" pitchFamily="34" charset="-122"/>
                <a:cs typeface="Arial" pitchFamily="34" charset="-120"/>
              </a:rPr>
              <a:t>Sources: Forbes, 2024; Wiley Survey, 2024</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971550"/>
            <a:ext cx="8001000" cy="0"/>
          </a:xfrm>
          <a:prstGeom prst="line">
            <a:avLst/>
          </a:prstGeom>
          <a:noFill/>
          <a:ln w="38100">
            <a:solidFill>
              <a:srgbClr val="5EA8A7"/>
            </a:solidFill>
            <a:prstDash val="solid"/>
          </a:ln>
        </p:spPr>
      </p:sp>
      <p:sp>
        <p:nvSpPr>
          <p:cNvPr id="3" name="Text 1"/>
          <p:cNvSpPr/>
          <p:nvPr/>
        </p:nvSpPr>
        <p:spPr>
          <a:xfrm>
            <a:off x="571500" y="476250"/>
            <a:ext cx="5197793" cy="476250"/>
          </a:xfrm>
          <a:prstGeom prst="rect">
            <a:avLst/>
          </a:prstGeom>
          <a:noFill/>
          <a:ln/>
        </p:spPr>
        <p:txBody>
          <a:bodyPr wrap="square" lIns="0" tIns="0" rIns="0" bIns="95250" rtlCol="0" anchor="t"/>
          <a:lstStyle/>
          <a:p>
            <a:pPr algn="l" indent="0" marL="0">
              <a:lnSpc>
                <a:spcPts val="3000"/>
              </a:lnSpc>
              <a:buNone/>
            </a:pPr>
            <a:r>
              <a:rPr lang="en-US" sz="2700" b="1" dirty="0">
                <a:solidFill>
                  <a:srgbClr val="1C4E80"/>
                </a:solidFill>
                <a:latin typeface="Arial" pitchFamily="34" charset="0"/>
                <a:ea typeface="Arial" pitchFamily="34" charset="-122"/>
                <a:cs typeface="Arial" pitchFamily="34" charset="-120"/>
              </a:rPr>
              <a:t>The Transformation Landscape</a:t>
            </a:r>
            <a:endParaRPr lang="en-US" sz="2700" dirty="0"/>
          </a:p>
        </p:txBody>
      </p:sp>
      <p:sp>
        <p:nvSpPr>
          <p:cNvPr id="4" name="Text 2"/>
          <p:cNvSpPr/>
          <p:nvPr/>
        </p:nvSpPr>
        <p:spPr>
          <a:xfrm>
            <a:off x="571500" y="1529804"/>
            <a:ext cx="3925062" cy="255984"/>
          </a:xfrm>
          <a:prstGeom prst="rect">
            <a:avLst/>
          </a:prstGeom>
          <a:noFill/>
          <a:ln/>
        </p:spPr>
        <p:txBody>
          <a:bodyPr wrap="square" lIns="0" tIns="0" rIns="0" bIns="0" rtlCol="0" anchor="t"/>
          <a:lstStyle/>
          <a:p>
            <a:pPr algn="l" indent="0" marL="0">
              <a:lnSpc>
                <a:spcPts val="2016"/>
              </a:lnSpc>
              <a:spcAft>
                <a:spcPts val="1125"/>
              </a:spcAft>
              <a:buNone/>
            </a:pPr>
            <a:r>
              <a:rPr lang="en-US" sz="1680" b="1" dirty="0">
                <a:solidFill>
                  <a:srgbClr val="FE4447"/>
                </a:solidFill>
                <a:latin typeface="Arial" pitchFamily="34" charset="0"/>
                <a:ea typeface="Arial" pitchFamily="34" charset="-122"/>
                <a:cs typeface="Arial" pitchFamily="34" charset="-120"/>
              </a:rPr>
              <a:t>Key Challenges</a:t>
            </a:r>
            <a:endParaRPr lang="en-US" sz="1680" dirty="0"/>
          </a:p>
        </p:txBody>
      </p:sp>
      <p:sp>
        <p:nvSpPr>
          <p:cNvPr id="5" name="Text 3"/>
          <p:cNvSpPr/>
          <p:nvPr/>
        </p:nvSpPr>
        <p:spPr>
          <a:xfrm>
            <a:off x="571500" y="2081064"/>
            <a:ext cx="3848100" cy="1981200"/>
          </a:xfrm>
          <a:prstGeom prst="rect">
            <a:avLst/>
          </a:prstGeom>
          <a:noFill/>
          <a:ln/>
        </p:spPr>
        <p:txBody>
          <a:bodyPr wrap="square" lIns="80010" tIns="0" rIns="0" bIns="0" rtlCol="0" anchor="t"/>
          <a:lstStyle/>
          <a:p>
            <a:pPr algn="l" marL="80010" indent="-80010">
              <a:lnSpc>
                <a:spcPts val="2100"/>
              </a:lnSpc>
              <a:buSzPct val="100000"/>
              <a:buChar char="•"/>
            </a:pPr>
            <a:r>
              <a:rPr lang="en-US" sz="1350" dirty="0">
                <a:solidFill>
                  <a:srgbClr val="1D1D1D"/>
                </a:solidFill>
                <a:latin typeface="Arial" pitchFamily="34" charset="0"/>
                <a:ea typeface="Arial" pitchFamily="34" charset="-122"/>
                <a:cs typeface="Arial" pitchFamily="34" charset="-120"/>
              </a:rPr>
              <a:t>Academic integrity violations increased 64% in 2024</a:t>
            </a:r>
            <a:endParaRPr lang="en-US" sz="1350" dirty="0"/>
          </a:p>
          <a:p>
            <a:pPr algn="l" marL="80010" indent="-80010">
              <a:lnSpc>
                <a:spcPts val="2100"/>
              </a:lnSpc>
              <a:buSzPct val="100000"/>
              <a:buChar char="•"/>
            </a:pPr>
            <a:r>
              <a:rPr lang="en-US" sz="1350" dirty="0">
                <a:solidFill>
                  <a:srgbClr val="1D1D1D"/>
                </a:solidFill>
                <a:latin typeface="Arial" pitchFamily="34" charset="0"/>
                <a:ea typeface="Arial" pitchFamily="34" charset="-122"/>
                <a:cs typeface="Arial" pitchFamily="34" charset="-120"/>
              </a:rPr>
              <a:t>Traditional assessment methods becoming obsolete</a:t>
            </a:r>
            <a:endParaRPr lang="en-US" sz="1350" dirty="0"/>
          </a:p>
          <a:p>
            <a:pPr algn="l" marL="80010" indent="-80010">
              <a:lnSpc>
                <a:spcPts val="2100"/>
              </a:lnSpc>
              <a:buSzPct val="100000"/>
              <a:buChar char="•"/>
            </a:pPr>
            <a:r>
              <a:rPr lang="en-US" sz="1350" dirty="0">
                <a:solidFill>
                  <a:srgbClr val="1D1D1D"/>
                </a:solidFill>
                <a:latin typeface="Arial" pitchFamily="34" charset="0"/>
                <a:ea typeface="Arial" pitchFamily="34" charset="-122"/>
                <a:cs typeface="Arial" pitchFamily="34" charset="-120"/>
              </a:rPr>
              <a:t>Cognitive offloading and skill erosion concerns</a:t>
            </a:r>
            <a:endParaRPr lang="en-US" sz="1350" dirty="0"/>
          </a:p>
          <a:p>
            <a:pPr algn="l" marL="80010" indent="-80010">
              <a:lnSpc>
                <a:spcPts val="2100"/>
              </a:lnSpc>
              <a:buSzPct val="100000"/>
              <a:buChar char="•"/>
            </a:pPr>
            <a:r>
              <a:rPr lang="en-US" sz="1350" dirty="0">
                <a:solidFill>
                  <a:srgbClr val="1D1D1D"/>
                </a:solidFill>
                <a:latin typeface="Arial" pitchFamily="34" charset="0"/>
                <a:ea typeface="Arial" pitchFamily="34" charset="-122"/>
                <a:cs typeface="Arial" pitchFamily="34" charset="-120"/>
              </a:rPr>
              <a:t>Detection tools only 68% effective at identifying AI content</a:t>
            </a:r>
            <a:endParaRPr lang="en-US" sz="1350" dirty="0"/>
          </a:p>
        </p:txBody>
      </p:sp>
      <p:sp>
        <p:nvSpPr>
          <p:cNvPr id="6" name="Text 4"/>
          <p:cNvSpPr/>
          <p:nvPr/>
        </p:nvSpPr>
        <p:spPr>
          <a:xfrm>
            <a:off x="4724400" y="1796504"/>
            <a:ext cx="3925062" cy="255984"/>
          </a:xfrm>
          <a:prstGeom prst="rect">
            <a:avLst/>
          </a:prstGeom>
          <a:noFill/>
          <a:ln/>
        </p:spPr>
        <p:txBody>
          <a:bodyPr wrap="square" lIns="0" tIns="0" rIns="0" bIns="0" rtlCol="0" anchor="t"/>
          <a:lstStyle/>
          <a:p>
            <a:pPr algn="l" indent="0" marL="0">
              <a:lnSpc>
                <a:spcPts val="2016"/>
              </a:lnSpc>
              <a:spcAft>
                <a:spcPts val="1125"/>
              </a:spcAft>
              <a:buNone/>
            </a:pPr>
            <a:r>
              <a:rPr lang="en-US" sz="1680" b="1" dirty="0">
                <a:solidFill>
                  <a:srgbClr val="2ECC71"/>
                </a:solidFill>
                <a:latin typeface="Arial" pitchFamily="34" charset="0"/>
                <a:ea typeface="Arial" pitchFamily="34" charset="-122"/>
                <a:cs typeface="Arial" pitchFamily="34" charset="-120"/>
              </a:rPr>
              <a:t>Key Opportunities</a:t>
            </a:r>
            <a:endParaRPr lang="en-US" sz="1680" dirty="0"/>
          </a:p>
        </p:txBody>
      </p:sp>
      <p:sp>
        <p:nvSpPr>
          <p:cNvPr id="7" name="Text 5"/>
          <p:cNvSpPr/>
          <p:nvPr/>
        </p:nvSpPr>
        <p:spPr>
          <a:xfrm>
            <a:off x="4724400" y="2347764"/>
            <a:ext cx="3848100" cy="1447800"/>
          </a:xfrm>
          <a:prstGeom prst="rect">
            <a:avLst/>
          </a:prstGeom>
          <a:noFill/>
          <a:ln/>
        </p:spPr>
        <p:txBody>
          <a:bodyPr wrap="square" lIns="80010" tIns="0" rIns="0" bIns="0" rtlCol="0" anchor="t"/>
          <a:lstStyle/>
          <a:p>
            <a:pPr algn="l" marL="80010" indent="-80010">
              <a:lnSpc>
                <a:spcPts val="2100"/>
              </a:lnSpc>
              <a:buSzPct val="100000"/>
              <a:buChar char="•"/>
            </a:pPr>
            <a:r>
              <a:rPr lang="en-US" sz="1350" dirty="0">
                <a:solidFill>
                  <a:srgbClr val="1D1D1D"/>
                </a:solidFill>
                <a:latin typeface="Arial" pitchFamily="34" charset="0"/>
                <a:ea typeface="Arial" pitchFamily="34" charset="-122"/>
                <a:cs typeface="Arial" pitchFamily="34" charset="-120"/>
              </a:rPr>
              <a:t>Personalized learning pathways at scale</a:t>
            </a:r>
            <a:endParaRPr lang="en-US" sz="1350" dirty="0"/>
          </a:p>
          <a:p>
            <a:pPr algn="l" marL="80010" indent="-80010">
              <a:lnSpc>
                <a:spcPts val="2100"/>
              </a:lnSpc>
              <a:buSzPct val="100000"/>
              <a:buChar char="•"/>
            </a:pPr>
            <a:r>
              <a:rPr lang="en-US" sz="1350" dirty="0">
                <a:solidFill>
                  <a:srgbClr val="1D1D1D"/>
                </a:solidFill>
                <a:latin typeface="Arial" pitchFamily="34" charset="0"/>
                <a:ea typeface="Arial" pitchFamily="34" charset="-122"/>
                <a:cs typeface="Arial" pitchFamily="34" charset="-120"/>
              </a:rPr>
              <a:t>Research acceleration by 10-100x in some fields</a:t>
            </a:r>
            <a:endParaRPr lang="en-US" sz="1350" dirty="0"/>
          </a:p>
          <a:p>
            <a:pPr algn="l" marL="80010" indent="-80010">
              <a:lnSpc>
                <a:spcPts val="2100"/>
              </a:lnSpc>
              <a:buSzPct val="100000"/>
              <a:buChar char="•"/>
            </a:pPr>
            <a:r>
              <a:rPr lang="en-US" sz="1350" dirty="0">
                <a:solidFill>
                  <a:srgbClr val="1D1D1D"/>
                </a:solidFill>
                <a:latin typeface="Arial" pitchFamily="34" charset="0"/>
                <a:ea typeface="Arial" pitchFamily="34" charset="-122"/>
                <a:cs typeface="Arial" pitchFamily="34" charset="-120"/>
              </a:rPr>
              <a:t>Democratized access to educational resources</a:t>
            </a:r>
            <a:endParaRPr lang="en-US" sz="1350" dirty="0"/>
          </a:p>
          <a:p>
            <a:pPr algn="l" marL="80010" indent="-80010">
              <a:lnSpc>
                <a:spcPts val="2100"/>
              </a:lnSpc>
              <a:buSzPct val="100000"/>
              <a:buChar char="•"/>
            </a:pPr>
            <a:r>
              <a:rPr lang="en-US" sz="1350" dirty="0">
                <a:solidFill>
                  <a:srgbClr val="1D1D1D"/>
                </a:solidFill>
                <a:latin typeface="Arial" pitchFamily="34" charset="0"/>
                <a:ea typeface="Arial" pitchFamily="34" charset="-122"/>
                <a:cs typeface="Arial" pitchFamily="34" charset="-120"/>
              </a:rPr>
              <a:t>Real-time adaptive feedback and support</a:t>
            </a:r>
            <a:endParaRPr lang="en-US" sz="1350" dirty="0"/>
          </a:p>
        </p:txBody>
      </p:sp>
      <p:sp>
        <p:nvSpPr>
          <p:cNvPr id="8" name="Text 6"/>
          <p:cNvSpPr/>
          <p:nvPr/>
        </p:nvSpPr>
        <p:spPr>
          <a:xfrm>
            <a:off x="571500" y="4458593"/>
            <a:ext cx="8161020" cy="170557"/>
          </a:xfrm>
          <a:prstGeom prst="rect">
            <a:avLst/>
          </a:prstGeom>
          <a:noFill/>
          <a:ln/>
        </p:spPr>
        <p:txBody>
          <a:bodyPr wrap="square" lIns="0" tIns="0" rIns="0" bIns="0" rtlCol="0" anchor="t"/>
          <a:lstStyle/>
          <a:p>
            <a:pPr algn="l" indent="0" marL="0">
              <a:lnSpc>
                <a:spcPts val="1344"/>
              </a:lnSpc>
              <a:spcBef>
                <a:spcPts val="1125"/>
              </a:spcBef>
              <a:spcAft>
                <a:spcPts val="300"/>
              </a:spcAft>
              <a:buNone/>
            </a:pPr>
            <a:r>
              <a:rPr lang="en-US" sz="960" dirty="0">
                <a:solidFill>
                  <a:srgbClr val="737373"/>
                </a:solidFill>
                <a:latin typeface="Arial" pitchFamily="34" charset="0"/>
                <a:ea typeface="Arial" pitchFamily="34" charset="-122"/>
                <a:cs typeface="Arial" pitchFamily="34" charset="-120"/>
              </a:rPr>
              <a:t>Sources: Ateeq et al., 2024; Dwivedi et al., 2023; Francis et al., 2024</a:t>
            </a:r>
            <a:endParaRPr lang="en-US" sz="9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971550"/>
            <a:ext cx="8001000" cy="0"/>
          </a:xfrm>
          <a:prstGeom prst="line">
            <a:avLst/>
          </a:prstGeom>
          <a:noFill/>
          <a:ln w="38100">
            <a:solidFill>
              <a:srgbClr val="5EA8A7"/>
            </a:solidFill>
            <a:prstDash val="solid"/>
          </a:ln>
        </p:spPr>
      </p:sp>
      <p:sp>
        <p:nvSpPr>
          <p:cNvPr id="3" name="Text 1"/>
          <p:cNvSpPr/>
          <p:nvPr/>
        </p:nvSpPr>
        <p:spPr>
          <a:xfrm>
            <a:off x="571500" y="476250"/>
            <a:ext cx="7082600" cy="476250"/>
          </a:xfrm>
          <a:prstGeom prst="rect">
            <a:avLst/>
          </a:prstGeom>
          <a:noFill/>
          <a:ln/>
        </p:spPr>
        <p:txBody>
          <a:bodyPr wrap="square" lIns="0" tIns="0" rIns="0" bIns="95250" rtlCol="0" anchor="t"/>
          <a:lstStyle/>
          <a:p>
            <a:pPr algn="l" indent="0" marL="0">
              <a:lnSpc>
                <a:spcPts val="3000"/>
              </a:lnSpc>
              <a:buNone/>
            </a:pPr>
            <a:r>
              <a:rPr lang="en-US" sz="2700" b="1" dirty="0">
                <a:solidFill>
                  <a:srgbClr val="FE4447"/>
                </a:solidFill>
                <a:latin typeface="Arial" pitchFamily="34" charset="0"/>
                <a:ea typeface="Arial" pitchFamily="34" charset="-122"/>
                <a:cs typeface="Arial" pitchFamily="34" charset="-120"/>
              </a:rPr>
              <a:t>Challenge 1: The Academic Integrity Crisis</a:t>
            </a:r>
            <a:endParaRPr lang="en-US" sz="2700" dirty="0"/>
          </a:p>
        </p:txBody>
      </p:sp>
      <p:sp>
        <p:nvSpPr>
          <p:cNvPr id="4" name="Text 2"/>
          <p:cNvSpPr/>
          <p:nvPr/>
        </p:nvSpPr>
        <p:spPr>
          <a:xfrm>
            <a:off x="571500" y="1344662"/>
            <a:ext cx="8161020" cy="237679"/>
          </a:xfrm>
          <a:prstGeom prst="rect">
            <a:avLst/>
          </a:prstGeom>
          <a:noFill/>
          <a:ln/>
        </p:spPr>
        <p:txBody>
          <a:bodyPr wrap="square" lIns="0" tIns="0" rIns="0" bIns="0" rtlCol="0" anchor="t"/>
          <a:lstStyle/>
          <a:p>
            <a:pPr algn="l" indent="0" marL="0">
              <a:lnSpc>
                <a:spcPts val="1872"/>
              </a:lnSpc>
              <a:spcAft>
                <a:spcPts val="1125"/>
              </a:spcAft>
              <a:buNone/>
            </a:pPr>
            <a:r>
              <a:rPr lang="en-US" sz="1560" b="1" dirty="0">
                <a:solidFill>
                  <a:srgbClr val="1C4E80"/>
                </a:solidFill>
                <a:latin typeface="Arial" pitchFamily="34" charset="0"/>
                <a:ea typeface="Arial" pitchFamily="34" charset="-122"/>
                <a:cs typeface="Arial" pitchFamily="34" charset="-120"/>
              </a:rPr>
              <a:t>The Problem</a:t>
            </a:r>
            <a:endParaRPr lang="en-US" sz="1560" dirty="0"/>
          </a:p>
        </p:txBody>
      </p:sp>
      <p:sp>
        <p:nvSpPr>
          <p:cNvPr id="5" name="Text 3"/>
          <p:cNvSpPr/>
          <p:nvPr/>
        </p:nvSpPr>
        <p:spPr>
          <a:xfrm>
            <a:off x="571500" y="1725216"/>
            <a:ext cx="8001000" cy="1181100"/>
          </a:xfrm>
          <a:prstGeom prst="rect">
            <a:avLst/>
          </a:prstGeom>
          <a:noFill/>
          <a:ln/>
        </p:spPr>
        <p:txBody>
          <a:bodyPr wrap="square" lIns="76200" tIns="0" rIns="0" bIns="0" rtlCol="0" anchor="t"/>
          <a:lstStyle/>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Student discipline rates:</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Rose from 48% (2022-23) to 64% (2024)</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Detection challenges:</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AI-generated content often undetectable by traditional methods</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"AI-giarism":</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Students perceive AI plagiarism as less unethical than human plagiarism</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Substitutive tools:</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AI can replace students entirely in completing assignments</a:t>
            </a:r>
            <a:endParaRPr lang="en-US" sz="1350" dirty="0"/>
          </a:p>
        </p:txBody>
      </p:sp>
      <p:sp>
        <p:nvSpPr>
          <p:cNvPr id="6" name="Text 4"/>
          <p:cNvSpPr/>
          <p:nvPr/>
        </p:nvSpPr>
        <p:spPr>
          <a:xfrm>
            <a:off x="571500" y="3201591"/>
            <a:ext cx="8001000" cy="1141214"/>
          </a:xfrm>
          <a:prstGeom prst="roundRect">
            <a:avLst>
              <a:gd name="adj" fmla="val 4173"/>
            </a:avLst>
          </a:prstGeom>
          <a:solidFill>
            <a:srgbClr val="F8F9FA"/>
          </a:solidFill>
          <a:ln/>
        </p:spPr>
        <p:txBody>
          <a:bodyPr wrap="square" rtlCol="0" anchor="ctr"/>
          <a:lstStyle/>
          <a:p>
            <a:pPr indent="0" marL="0">
              <a:buNone/>
            </a:pPr>
            <a:endParaRPr lang="en-US" dirty="0"/>
          </a:p>
        </p:txBody>
      </p:sp>
      <p:sp>
        <p:nvSpPr>
          <p:cNvPr id="7" name="Shape 5"/>
          <p:cNvSpPr/>
          <p:nvPr/>
        </p:nvSpPr>
        <p:spPr>
          <a:xfrm>
            <a:off x="595313" y="3201591"/>
            <a:ext cx="0" cy="1141214"/>
          </a:xfrm>
          <a:prstGeom prst="line">
            <a:avLst/>
          </a:prstGeom>
          <a:noFill/>
          <a:ln w="47625">
            <a:solidFill>
              <a:srgbClr val="FE4447"/>
            </a:solidFill>
            <a:prstDash val="solid"/>
          </a:ln>
        </p:spPr>
      </p:sp>
      <p:sp>
        <p:nvSpPr>
          <p:cNvPr id="8" name="Text 6"/>
          <p:cNvSpPr/>
          <p:nvPr/>
        </p:nvSpPr>
        <p:spPr>
          <a:xfrm>
            <a:off x="809625" y="3430191"/>
            <a:ext cx="7723823"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555555"/>
                </a:solidFill>
                <a:latin typeface="Arial" pitchFamily="34" charset="0"/>
                <a:ea typeface="Arial" pitchFamily="34" charset="-122"/>
                <a:cs typeface="Arial" pitchFamily="34" charset="-120"/>
              </a:rPr>
              <a:t>"Nearly half of students (47%) said it is easier to cheat than it was last year due to the increased use of generative AI, with 35% pointing toward ChatGPT specifically."</a:t>
            </a:r>
            <a:endParaRPr lang="en-US" sz="1200" dirty="0"/>
          </a:p>
        </p:txBody>
      </p:sp>
      <p:sp>
        <p:nvSpPr>
          <p:cNvPr id="9" name="Text 7"/>
          <p:cNvSpPr/>
          <p:nvPr/>
        </p:nvSpPr>
        <p:spPr>
          <a:xfrm>
            <a:off x="809625" y="3932932"/>
            <a:ext cx="7723823" cy="181273"/>
          </a:xfrm>
          <a:prstGeom prst="rect">
            <a:avLst/>
          </a:prstGeom>
          <a:noFill/>
          <a:ln/>
        </p:spPr>
        <p:txBody>
          <a:bodyPr wrap="square" lIns="0" tIns="0" rIns="0" bIns="0" rtlCol="0" anchor="t"/>
          <a:lstStyle/>
          <a:p>
            <a:pPr algn="l" indent="0" marL="0">
              <a:lnSpc>
                <a:spcPts val="1428"/>
              </a:lnSpc>
              <a:spcBef>
                <a:spcPts val="600"/>
              </a:spcBef>
              <a:spcAft>
                <a:spcPts val="300"/>
              </a:spcAft>
              <a:buNone/>
            </a:pPr>
            <a:r>
              <a:rPr lang="en-US" sz="1020" dirty="0">
                <a:solidFill>
                  <a:srgbClr val="737373"/>
                </a:solidFill>
                <a:latin typeface="Arial" pitchFamily="34" charset="0"/>
                <a:ea typeface="Arial" pitchFamily="34" charset="-122"/>
                <a:cs typeface="Arial" pitchFamily="34" charset="-120"/>
              </a:rPr>
              <a:t>— Inside Higher Ed Survey, 2024</a:t>
            </a:r>
            <a:endParaRPr lang="en-US" sz="1020" dirty="0"/>
          </a:p>
        </p:txBody>
      </p:sp>
      <p:sp>
        <p:nvSpPr>
          <p:cNvPr id="10" name="Text 8"/>
          <p:cNvSpPr/>
          <p:nvPr/>
        </p:nvSpPr>
        <p:spPr>
          <a:xfrm>
            <a:off x="571500" y="4495205"/>
            <a:ext cx="8161020" cy="170557"/>
          </a:xfrm>
          <a:prstGeom prst="rect">
            <a:avLst/>
          </a:prstGeom>
          <a:noFill/>
          <a:ln/>
        </p:spPr>
        <p:txBody>
          <a:bodyPr wrap="square" lIns="0" tIns="0" rIns="0" bIns="0" rtlCol="0" anchor="t"/>
          <a:lstStyle/>
          <a:p>
            <a:pPr algn="l" indent="0" marL="0">
              <a:lnSpc>
                <a:spcPts val="1344"/>
              </a:lnSpc>
              <a:spcAft>
                <a:spcPts val="300"/>
              </a:spcAft>
              <a:buNone/>
            </a:pPr>
            <a:r>
              <a:rPr lang="en-US" sz="960" dirty="0">
                <a:solidFill>
                  <a:srgbClr val="737373"/>
                </a:solidFill>
                <a:latin typeface="Arial" pitchFamily="34" charset="0"/>
                <a:ea typeface="Arial" pitchFamily="34" charset="-122"/>
                <a:cs typeface="Arial" pitchFamily="34" charset="-120"/>
              </a:rPr>
              <a:t>Sources: Chan, 2024; Khosravi et al., 2022; GovTech, 2024; Wiley Survey, 2024</a:t>
            </a:r>
            <a:endParaRPr lang="en-US" sz="9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971550"/>
            <a:ext cx="8001000" cy="0"/>
          </a:xfrm>
          <a:prstGeom prst="line">
            <a:avLst/>
          </a:prstGeom>
          <a:noFill/>
          <a:ln w="38100">
            <a:solidFill>
              <a:srgbClr val="5EA8A7"/>
            </a:solidFill>
            <a:prstDash val="solid"/>
          </a:ln>
        </p:spPr>
      </p:sp>
      <p:sp>
        <p:nvSpPr>
          <p:cNvPr id="3" name="Text 1"/>
          <p:cNvSpPr/>
          <p:nvPr/>
        </p:nvSpPr>
        <p:spPr>
          <a:xfrm>
            <a:off x="571500" y="476250"/>
            <a:ext cx="8131874" cy="476250"/>
          </a:xfrm>
          <a:prstGeom prst="rect">
            <a:avLst/>
          </a:prstGeom>
          <a:noFill/>
          <a:ln/>
        </p:spPr>
        <p:txBody>
          <a:bodyPr wrap="square" lIns="0" tIns="0" rIns="0" bIns="95250" rtlCol="0" anchor="t"/>
          <a:lstStyle/>
          <a:p>
            <a:pPr algn="l" indent="0" marL="0">
              <a:lnSpc>
                <a:spcPts val="3000"/>
              </a:lnSpc>
              <a:buNone/>
            </a:pPr>
            <a:r>
              <a:rPr lang="en-US" sz="2700" b="1" dirty="0">
                <a:solidFill>
                  <a:srgbClr val="FE4447"/>
                </a:solidFill>
                <a:latin typeface="Arial" pitchFamily="34" charset="0"/>
                <a:ea typeface="Arial" pitchFamily="34" charset="-122"/>
                <a:cs typeface="Arial" pitchFamily="34" charset="-120"/>
              </a:rPr>
              <a:t>Challenge 2: Assessment &amp; Evaluation Evolution</a:t>
            </a:r>
            <a:endParaRPr lang="en-US" sz="2700" dirty="0"/>
          </a:p>
        </p:txBody>
      </p:sp>
      <p:sp>
        <p:nvSpPr>
          <p:cNvPr id="4" name="Text 2"/>
          <p:cNvSpPr/>
          <p:nvPr/>
        </p:nvSpPr>
        <p:spPr>
          <a:xfrm>
            <a:off x="571500" y="1097012"/>
            <a:ext cx="3925062" cy="237679"/>
          </a:xfrm>
          <a:prstGeom prst="rect">
            <a:avLst/>
          </a:prstGeom>
          <a:noFill/>
          <a:ln/>
        </p:spPr>
        <p:txBody>
          <a:bodyPr wrap="square" lIns="0" tIns="0" rIns="0" bIns="0" rtlCol="0" anchor="t"/>
          <a:lstStyle/>
          <a:p>
            <a:pPr algn="l" indent="0" marL="0">
              <a:lnSpc>
                <a:spcPts val="1872"/>
              </a:lnSpc>
              <a:spcAft>
                <a:spcPts val="1125"/>
              </a:spcAft>
              <a:buNone/>
            </a:pPr>
            <a:r>
              <a:rPr lang="en-US" sz="1560" b="1" dirty="0">
                <a:solidFill>
                  <a:srgbClr val="1C4E80"/>
                </a:solidFill>
                <a:latin typeface="Arial" pitchFamily="34" charset="0"/>
                <a:ea typeface="Arial" pitchFamily="34" charset="-122"/>
                <a:cs typeface="Arial" pitchFamily="34" charset="-120"/>
              </a:rPr>
              <a:t>Traditional Methods Failing</a:t>
            </a:r>
            <a:endParaRPr lang="en-US" sz="1560" dirty="0"/>
          </a:p>
        </p:txBody>
      </p:sp>
      <p:sp>
        <p:nvSpPr>
          <p:cNvPr id="5" name="Text 3"/>
          <p:cNvSpPr/>
          <p:nvPr/>
        </p:nvSpPr>
        <p:spPr>
          <a:xfrm>
            <a:off x="571500" y="1477566"/>
            <a:ext cx="3848100" cy="1676400"/>
          </a:xfrm>
          <a:prstGeom prst="rect">
            <a:avLst/>
          </a:prstGeom>
          <a:noFill/>
          <a:ln/>
        </p:spPr>
        <p:txBody>
          <a:bodyPr wrap="square" lIns="76200" tIns="0" rIns="0" bIns="0" rtlCol="0" anchor="t"/>
          <a:lstStyle/>
          <a:p>
            <a:pPr algn="l" marL="76200" indent="-76200">
              <a:lnSpc>
                <a:spcPts val="2100"/>
              </a:lnSpc>
              <a:buSzPct val="100000"/>
              <a:buChar char="•"/>
            </a:pPr>
            <a:r>
              <a:rPr lang="en-US" sz="1350" dirty="0">
                <a:solidFill>
                  <a:srgbClr val="1D1D1D"/>
                </a:solidFill>
                <a:latin typeface="Arial" pitchFamily="34" charset="0"/>
                <a:ea typeface="Arial" pitchFamily="34" charset="-122"/>
                <a:cs typeface="Arial" pitchFamily="34" charset="-120"/>
              </a:rPr>
              <a:t>Knowledge-based assessments easily completed by AI</a:t>
            </a:r>
            <a:endParaRPr lang="en-US" sz="1350" dirty="0"/>
          </a:p>
          <a:p>
            <a:pPr algn="l" marL="76200" indent="-76200">
              <a:lnSpc>
                <a:spcPts val="2100"/>
              </a:lnSpc>
              <a:buSzPct val="100000"/>
              <a:buChar char="•"/>
            </a:pPr>
            <a:r>
              <a:rPr lang="en-US" sz="1350" dirty="0">
                <a:solidFill>
                  <a:srgbClr val="1D1D1D"/>
                </a:solidFill>
                <a:latin typeface="Arial" pitchFamily="34" charset="0"/>
                <a:ea typeface="Arial" pitchFamily="34" charset="-122"/>
                <a:cs typeface="Arial" pitchFamily="34" charset="-120"/>
              </a:rPr>
              <a:t>Written exams and essays no longer reliable indicators</a:t>
            </a:r>
            <a:endParaRPr lang="en-US" sz="1350" dirty="0"/>
          </a:p>
          <a:p>
            <a:pPr algn="l" marL="76200" indent="-76200">
              <a:lnSpc>
                <a:spcPts val="2100"/>
              </a:lnSpc>
              <a:buSzPct val="100000"/>
              <a:buChar char="•"/>
            </a:pPr>
            <a:r>
              <a:rPr lang="en-US" sz="1350" dirty="0">
                <a:solidFill>
                  <a:srgbClr val="1D1D1D"/>
                </a:solidFill>
                <a:latin typeface="Arial" pitchFamily="34" charset="0"/>
                <a:ea typeface="Arial" pitchFamily="34" charset="-122"/>
                <a:cs typeface="Arial" pitchFamily="34" charset="-120"/>
              </a:rPr>
              <a:t>Testing paradigm needs fundamental restructuring</a:t>
            </a:r>
            <a:endParaRPr lang="en-US" sz="1350" dirty="0"/>
          </a:p>
        </p:txBody>
      </p:sp>
      <p:sp>
        <p:nvSpPr>
          <p:cNvPr id="6" name="Text 4"/>
          <p:cNvSpPr/>
          <p:nvPr/>
        </p:nvSpPr>
        <p:spPr>
          <a:xfrm>
            <a:off x="4724400" y="1497062"/>
            <a:ext cx="3925062" cy="237679"/>
          </a:xfrm>
          <a:prstGeom prst="rect">
            <a:avLst/>
          </a:prstGeom>
          <a:noFill/>
          <a:ln/>
        </p:spPr>
        <p:txBody>
          <a:bodyPr wrap="square" lIns="0" tIns="0" rIns="0" bIns="0" rtlCol="0" anchor="t"/>
          <a:lstStyle/>
          <a:p>
            <a:pPr algn="l" indent="0" marL="0">
              <a:lnSpc>
                <a:spcPts val="1872"/>
              </a:lnSpc>
              <a:spcAft>
                <a:spcPts val="1125"/>
              </a:spcAft>
              <a:buNone/>
            </a:pPr>
            <a:r>
              <a:rPr lang="en-US" sz="1560" b="1" dirty="0">
                <a:solidFill>
                  <a:srgbClr val="1D1D1D"/>
                </a:solidFill>
                <a:latin typeface="Arial" pitchFamily="34" charset="0"/>
                <a:ea typeface="Arial" pitchFamily="34" charset="-122"/>
                <a:cs typeface="Arial" pitchFamily="34" charset="-120"/>
              </a:rPr>
              <a:t>Emerging Solutions</a:t>
            </a:r>
            <a:endParaRPr lang="en-US" sz="1560" dirty="0"/>
          </a:p>
        </p:txBody>
      </p:sp>
      <p:sp>
        <p:nvSpPr>
          <p:cNvPr id="7" name="Text 5"/>
          <p:cNvSpPr/>
          <p:nvPr/>
        </p:nvSpPr>
        <p:spPr>
          <a:xfrm>
            <a:off x="4724400" y="1877616"/>
            <a:ext cx="3848100" cy="876300"/>
          </a:xfrm>
          <a:prstGeom prst="rect">
            <a:avLst/>
          </a:prstGeom>
          <a:noFill/>
          <a:ln/>
        </p:spPr>
        <p:txBody>
          <a:bodyPr wrap="square" lIns="76200" tIns="0" rIns="0" bIns="0" rtlCol="0" anchor="t"/>
          <a:lstStyle/>
          <a:p>
            <a:pPr algn="l" marL="76200" indent="-76200">
              <a:lnSpc>
                <a:spcPts val="2100"/>
              </a:lnSpc>
              <a:buSzPct val="100000"/>
              <a:buChar char="•"/>
            </a:pPr>
            <a:r>
              <a:rPr lang="en-US" sz="1350" dirty="0">
                <a:solidFill>
                  <a:srgbClr val="1D1D1D"/>
                </a:solidFill>
                <a:latin typeface="Arial" pitchFamily="34" charset="0"/>
                <a:ea typeface="Arial" pitchFamily="34" charset="-122"/>
                <a:cs typeface="Arial" pitchFamily="34" charset="-120"/>
              </a:rPr>
              <a:t>Shift to application-centric assessments</a:t>
            </a:r>
            <a:endParaRPr lang="en-US" sz="1350" dirty="0"/>
          </a:p>
          <a:p>
            <a:pPr algn="l" marL="76200" indent="-76200">
              <a:lnSpc>
                <a:spcPts val="2100"/>
              </a:lnSpc>
              <a:buSzPct val="100000"/>
              <a:buChar char="•"/>
            </a:pPr>
            <a:r>
              <a:rPr lang="en-US" sz="1350" dirty="0">
                <a:solidFill>
                  <a:srgbClr val="1D1D1D"/>
                </a:solidFill>
                <a:latin typeface="Arial" pitchFamily="34" charset="0"/>
                <a:ea typeface="Arial" pitchFamily="34" charset="-122"/>
                <a:cs typeface="Arial" pitchFamily="34" charset="-120"/>
              </a:rPr>
              <a:t>Project-based and performance evaluations</a:t>
            </a:r>
            <a:endParaRPr lang="en-US" sz="1350" dirty="0"/>
          </a:p>
          <a:p>
            <a:pPr algn="l" marL="76200" indent="-76200">
              <a:lnSpc>
                <a:spcPts val="2100"/>
              </a:lnSpc>
              <a:buSzPct val="100000"/>
              <a:buChar char="•"/>
            </a:pPr>
            <a:r>
              <a:rPr lang="en-US" sz="1350" dirty="0">
                <a:solidFill>
                  <a:srgbClr val="1D1D1D"/>
                </a:solidFill>
                <a:latin typeface="Arial" pitchFamily="34" charset="0"/>
                <a:ea typeface="Arial" pitchFamily="34" charset="-122"/>
                <a:cs typeface="Arial" pitchFamily="34" charset="-120"/>
              </a:rPr>
              <a:t>Emphasis on creativity and originality</a:t>
            </a:r>
            <a:endParaRPr lang="en-US" sz="1350" dirty="0"/>
          </a:p>
        </p:txBody>
      </p:sp>
      <p:sp>
        <p:nvSpPr>
          <p:cNvPr id="8" name="Text 6"/>
          <p:cNvSpPr/>
          <p:nvPr/>
        </p:nvSpPr>
        <p:spPr>
          <a:xfrm>
            <a:off x="571500" y="3449241"/>
            <a:ext cx="8001000" cy="1141214"/>
          </a:xfrm>
          <a:prstGeom prst="roundRect">
            <a:avLst>
              <a:gd name="adj" fmla="val 4173"/>
            </a:avLst>
          </a:prstGeom>
          <a:solidFill>
            <a:srgbClr val="F8F9FA"/>
          </a:solidFill>
          <a:ln/>
        </p:spPr>
        <p:txBody>
          <a:bodyPr wrap="square" rtlCol="0" anchor="ctr"/>
          <a:lstStyle/>
          <a:p>
            <a:pPr indent="0" marL="0">
              <a:buNone/>
            </a:pPr>
            <a:endParaRPr lang="en-US" dirty="0"/>
          </a:p>
        </p:txBody>
      </p:sp>
      <p:sp>
        <p:nvSpPr>
          <p:cNvPr id="9" name="Shape 7"/>
          <p:cNvSpPr/>
          <p:nvPr/>
        </p:nvSpPr>
        <p:spPr>
          <a:xfrm>
            <a:off x="595313" y="3449241"/>
            <a:ext cx="0" cy="1141214"/>
          </a:xfrm>
          <a:prstGeom prst="line">
            <a:avLst/>
          </a:prstGeom>
          <a:noFill/>
          <a:ln w="47625">
            <a:solidFill>
              <a:srgbClr val="1C4E80"/>
            </a:solidFill>
            <a:prstDash val="solid"/>
          </a:ln>
        </p:spPr>
      </p:sp>
      <p:sp>
        <p:nvSpPr>
          <p:cNvPr id="10" name="Text 8"/>
          <p:cNvSpPr/>
          <p:nvPr/>
        </p:nvSpPr>
        <p:spPr>
          <a:xfrm>
            <a:off x="809625" y="3677841"/>
            <a:ext cx="7723823"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555555"/>
                </a:solidFill>
                <a:latin typeface="Arial" pitchFamily="34" charset="0"/>
                <a:ea typeface="Arial" pitchFamily="34" charset="-122"/>
                <a:cs typeface="Arial" pitchFamily="34" charset="-120"/>
              </a:rPr>
              <a:t>"When a business school test was given to an AI system and it got everything right instantly, the test was too easy. You need to enhance question complexity, accelerate learning, and expect more of students."</a:t>
            </a:r>
            <a:endParaRPr lang="en-US" sz="1200" dirty="0"/>
          </a:p>
        </p:txBody>
      </p:sp>
      <p:sp>
        <p:nvSpPr>
          <p:cNvPr id="11" name="Text 9"/>
          <p:cNvSpPr/>
          <p:nvPr/>
        </p:nvSpPr>
        <p:spPr>
          <a:xfrm>
            <a:off x="809625" y="4180582"/>
            <a:ext cx="7723823" cy="181273"/>
          </a:xfrm>
          <a:prstGeom prst="rect">
            <a:avLst/>
          </a:prstGeom>
          <a:noFill/>
          <a:ln/>
        </p:spPr>
        <p:txBody>
          <a:bodyPr wrap="square" lIns="0" tIns="0" rIns="0" bIns="0" rtlCol="0" anchor="t"/>
          <a:lstStyle/>
          <a:p>
            <a:pPr algn="l" indent="0" marL="0">
              <a:lnSpc>
                <a:spcPts val="1428"/>
              </a:lnSpc>
              <a:spcBef>
                <a:spcPts val="600"/>
              </a:spcBef>
              <a:spcAft>
                <a:spcPts val="300"/>
              </a:spcAft>
              <a:buNone/>
            </a:pPr>
            <a:r>
              <a:rPr lang="en-US" sz="1020" dirty="0">
                <a:solidFill>
                  <a:srgbClr val="737373"/>
                </a:solidFill>
                <a:latin typeface="Arial" pitchFamily="34" charset="0"/>
                <a:ea typeface="Arial" pitchFamily="34" charset="-122"/>
                <a:cs typeface="Arial" pitchFamily="34" charset="-120"/>
              </a:rPr>
              <a:t>— Michael Crow, ASU President</a:t>
            </a:r>
            <a:endParaRPr lang="en-US" sz="1020" dirty="0"/>
          </a:p>
        </p:txBody>
      </p:sp>
      <p:sp>
        <p:nvSpPr>
          <p:cNvPr id="12" name="Text 10"/>
          <p:cNvSpPr/>
          <p:nvPr/>
        </p:nvSpPr>
        <p:spPr>
          <a:xfrm>
            <a:off x="571500" y="4742855"/>
            <a:ext cx="8161020" cy="170557"/>
          </a:xfrm>
          <a:prstGeom prst="rect">
            <a:avLst/>
          </a:prstGeom>
          <a:noFill/>
          <a:ln/>
        </p:spPr>
        <p:txBody>
          <a:bodyPr wrap="square" lIns="0" tIns="0" rIns="0" bIns="0" rtlCol="0" anchor="t"/>
          <a:lstStyle/>
          <a:p>
            <a:pPr algn="l" indent="0" marL="0">
              <a:lnSpc>
                <a:spcPts val="1344"/>
              </a:lnSpc>
              <a:spcAft>
                <a:spcPts val="300"/>
              </a:spcAft>
              <a:buNone/>
            </a:pPr>
            <a:r>
              <a:rPr lang="en-US" sz="960" dirty="0">
                <a:solidFill>
                  <a:srgbClr val="737373"/>
                </a:solidFill>
                <a:latin typeface="Arial" pitchFamily="34" charset="0"/>
                <a:ea typeface="Arial" pitchFamily="34" charset="-122"/>
                <a:cs typeface="Arial" pitchFamily="34" charset="-120"/>
              </a:rPr>
              <a:t>Sources: Kaltenboeck et al., 2022; Chan, 2023; Crow Interview, 2025</a:t>
            </a:r>
            <a:endParaRPr lang="en-US" sz="9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971550"/>
            <a:ext cx="8001000" cy="0"/>
          </a:xfrm>
          <a:prstGeom prst="line">
            <a:avLst/>
          </a:prstGeom>
          <a:noFill/>
          <a:ln w="38100">
            <a:solidFill>
              <a:srgbClr val="5EA8A7"/>
            </a:solidFill>
            <a:prstDash val="solid"/>
          </a:ln>
        </p:spPr>
      </p:sp>
      <p:sp>
        <p:nvSpPr>
          <p:cNvPr id="3" name="Text 1"/>
          <p:cNvSpPr/>
          <p:nvPr/>
        </p:nvSpPr>
        <p:spPr>
          <a:xfrm>
            <a:off x="571500" y="476250"/>
            <a:ext cx="7762684" cy="476250"/>
          </a:xfrm>
          <a:prstGeom prst="rect">
            <a:avLst/>
          </a:prstGeom>
          <a:noFill/>
          <a:ln/>
        </p:spPr>
        <p:txBody>
          <a:bodyPr wrap="square" lIns="0" tIns="0" rIns="0" bIns="95250" rtlCol="0" anchor="t"/>
          <a:lstStyle/>
          <a:p>
            <a:pPr algn="l" indent="0" marL="0">
              <a:lnSpc>
                <a:spcPts val="3000"/>
              </a:lnSpc>
              <a:buNone/>
            </a:pPr>
            <a:r>
              <a:rPr lang="en-US" sz="2700" b="1" dirty="0">
                <a:solidFill>
                  <a:srgbClr val="FE4447"/>
                </a:solidFill>
                <a:latin typeface="Arial" pitchFamily="34" charset="0"/>
                <a:ea typeface="Arial" pitchFamily="34" charset="-122"/>
                <a:cs typeface="Arial" pitchFamily="34" charset="-120"/>
              </a:rPr>
              <a:t>Challenge 3: Skills Gap &amp; Cognitive Offloading</a:t>
            </a:r>
            <a:endParaRPr lang="en-US" sz="2700" dirty="0"/>
          </a:p>
        </p:txBody>
      </p:sp>
      <p:sp>
        <p:nvSpPr>
          <p:cNvPr id="4" name="Text 2"/>
          <p:cNvSpPr/>
          <p:nvPr/>
        </p:nvSpPr>
        <p:spPr>
          <a:xfrm>
            <a:off x="571500" y="1073051"/>
            <a:ext cx="3848100" cy="1637854"/>
          </a:xfrm>
          <a:prstGeom prst="roundRect">
            <a:avLst>
              <a:gd name="adj" fmla="val 4652"/>
            </a:avLst>
          </a:prstGeom>
          <a:solidFill>
            <a:srgbClr val="F39C12"/>
          </a:solidFill>
          <a:ln/>
        </p:spPr>
        <p:txBody>
          <a:bodyPr wrap="square" rtlCol="0" anchor="ctr"/>
          <a:lstStyle/>
          <a:p>
            <a:pPr indent="0" marL="0">
              <a:buNone/>
            </a:pPr>
            <a:endParaRPr lang="en-US" dirty="0"/>
          </a:p>
        </p:txBody>
      </p:sp>
      <p:sp>
        <p:nvSpPr>
          <p:cNvPr id="5" name="Text 3"/>
          <p:cNvSpPr/>
          <p:nvPr/>
        </p:nvSpPr>
        <p:spPr>
          <a:xfrm>
            <a:off x="762000" y="1263551"/>
            <a:ext cx="3536442" cy="237679"/>
          </a:xfrm>
          <a:prstGeom prst="rect">
            <a:avLst/>
          </a:prstGeom>
          <a:noFill/>
          <a:ln/>
        </p:spPr>
        <p:txBody>
          <a:bodyPr wrap="square" lIns="0" tIns="0" rIns="0" bIns="0" rtlCol="0" anchor="t"/>
          <a:lstStyle/>
          <a:p>
            <a:pPr algn="l" indent="0" marL="0">
              <a:lnSpc>
                <a:spcPts val="1872"/>
              </a:lnSpc>
              <a:spcAft>
                <a:spcPts val="1125"/>
              </a:spcAft>
              <a:buNone/>
            </a:pPr>
            <a:r>
              <a:rPr lang="en-US" sz="1560" b="1" dirty="0">
                <a:solidFill>
                  <a:srgbClr val="FFFFFF"/>
                </a:solidFill>
                <a:latin typeface="Arial" pitchFamily="34" charset="0"/>
                <a:ea typeface="Arial" pitchFamily="34" charset="-122"/>
                <a:cs typeface="Arial" pitchFamily="34" charset="-120"/>
              </a:rPr>
              <a:t>Cognitive Erosion</a:t>
            </a:r>
            <a:endParaRPr lang="en-US" sz="1560" dirty="0"/>
          </a:p>
        </p:txBody>
      </p:sp>
      <p:sp>
        <p:nvSpPr>
          <p:cNvPr id="6" name="Text 4"/>
          <p:cNvSpPr/>
          <p:nvPr/>
        </p:nvSpPr>
        <p:spPr>
          <a:xfrm>
            <a:off x="762000" y="1644104"/>
            <a:ext cx="3467100" cy="876300"/>
          </a:xfrm>
          <a:prstGeom prst="rect">
            <a:avLst/>
          </a:prstGeom>
          <a:noFill/>
          <a:ln/>
        </p:spPr>
        <p:txBody>
          <a:bodyPr wrap="square" lIns="72390" tIns="0" rIns="0" bIns="0" rtlCol="0" anchor="t"/>
          <a:lstStyle/>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Critical thinking abilities declining</a:t>
            </a:r>
            <a:endParaRPr lang="en-US" sz="1350" dirty="0"/>
          </a:p>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Metacognitive laziness developing</a:t>
            </a:r>
            <a:endParaRPr lang="en-US" sz="1350" dirty="0"/>
          </a:p>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Self-regulated learning skills weakening</a:t>
            </a:r>
            <a:endParaRPr lang="en-US" sz="1350" dirty="0"/>
          </a:p>
        </p:txBody>
      </p:sp>
      <p:sp>
        <p:nvSpPr>
          <p:cNvPr id="7" name="Text 5"/>
          <p:cNvSpPr/>
          <p:nvPr/>
        </p:nvSpPr>
        <p:spPr>
          <a:xfrm>
            <a:off x="4724400" y="1073051"/>
            <a:ext cx="3848100" cy="1637854"/>
          </a:xfrm>
          <a:prstGeom prst="roundRect">
            <a:avLst>
              <a:gd name="adj" fmla="val 4652"/>
            </a:avLst>
          </a:prstGeom>
          <a:solidFill>
            <a:srgbClr val="FE4447"/>
          </a:solidFill>
          <a:ln/>
        </p:spPr>
        <p:txBody>
          <a:bodyPr wrap="square" rtlCol="0" anchor="ctr"/>
          <a:lstStyle/>
          <a:p>
            <a:pPr indent="0" marL="0">
              <a:buNone/>
            </a:pPr>
            <a:endParaRPr lang="en-US" dirty="0"/>
          </a:p>
        </p:txBody>
      </p:sp>
      <p:sp>
        <p:nvSpPr>
          <p:cNvPr id="8" name="Text 6"/>
          <p:cNvSpPr/>
          <p:nvPr/>
        </p:nvSpPr>
        <p:spPr>
          <a:xfrm>
            <a:off x="4914900" y="1263551"/>
            <a:ext cx="3536442" cy="237679"/>
          </a:xfrm>
          <a:prstGeom prst="rect">
            <a:avLst/>
          </a:prstGeom>
          <a:noFill/>
          <a:ln/>
        </p:spPr>
        <p:txBody>
          <a:bodyPr wrap="square" lIns="0" tIns="0" rIns="0" bIns="0" rtlCol="0" anchor="t"/>
          <a:lstStyle/>
          <a:p>
            <a:pPr algn="l" indent="0" marL="0">
              <a:lnSpc>
                <a:spcPts val="1872"/>
              </a:lnSpc>
              <a:spcAft>
                <a:spcPts val="1125"/>
              </a:spcAft>
              <a:buNone/>
            </a:pPr>
            <a:r>
              <a:rPr lang="en-US" sz="1560" b="1" dirty="0">
                <a:solidFill>
                  <a:srgbClr val="FFFFFF"/>
                </a:solidFill>
                <a:latin typeface="Arial" pitchFamily="34" charset="0"/>
                <a:ea typeface="Arial" pitchFamily="34" charset="-122"/>
                <a:cs typeface="Arial" pitchFamily="34" charset="-120"/>
              </a:rPr>
              <a:t>Dependency Risks</a:t>
            </a:r>
            <a:endParaRPr lang="en-US" sz="1560" dirty="0"/>
          </a:p>
        </p:txBody>
      </p:sp>
      <p:sp>
        <p:nvSpPr>
          <p:cNvPr id="9" name="Text 7"/>
          <p:cNvSpPr/>
          <p:nvPr/>
        </p:nvSpPr>
        <p:spPr>
          <a:xfrm>
            <a:off x="4914900" y="1644104"/>
            <a:ext cx="3467100" cy="876300"/>
          </a:xfrm>
          <a:prstGeom prst="rect">
            <a:avLst/>
          </a:prstGeom>
          <a:noFill/>
          <a:ln/>
        </p:spPr>
        <p:txBody>
          <a:bodyPr wrap="square" lIns="72390" tIns="0" rIns="0" bIns="0" rtlCol="0" anchor="t"/>
          <a:lstStyle/>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Over-reliance on AI assistance</a:t>
            </a:r>
            <a:endParaRPr lang="en-US" sz="1350" dirty="0"/>
          </a:p>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Diminished mental effort in learning</a:t>
            </a:r>
            <a:endParaRPr lang="en-US" sz="1350" dirty="0"/>
          </a:p>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Loss of problem-solving autonomy</a:t>
            </a:r>
            <a:endParaRPr lang="en-US" sz="1350" dirty="0"/>
          </a:p>
        </p:txBody>
      </p:sp>
      <p:sp>
        <p:nvSpPr>
          <p:cNvPr id="10" name="Text 8"/>
          <p:cNvSpPr/>
          <p:nvPr/>
        </p:nvSpPr>
        <p:spPr>
          <a:xfrm>
            <a:off x="571500" y="3006179"/>
            <a:ext cx="8001000" cy="1141214"/>
          </a:xfrm>
          <a:prstGeom prst="roundRect">
            <a:avLst>
              <a:gd name="adj" fmla="val 4173"/>
            </a:avLst>
          </a:prstGeom>
          <a:solidFill>
            <a:srgbClr val="F8F9FA"/>
          </a:solidFill>
          <a:ln/>
        </p:spPr>
        <p:txBody>
          <a:bodyPr wrap="square" rtlCol="0" anchor="ctr"/>
          <a:lstStyle/>
          <a:p>
            <a:pPr indent="0" marL="0">
              <a:buNone/>
            </a:pPr>
            <a:endParaRPr lang="en-US" dirty="0"/>
          </a:p>
        </p:txBody>
      </p:sp>
      <p:sp>
        <p:nvSpPr>
          <p:cNvPr id="11" name="Shape 9"/>
          <p:cNvSpPr/>
          <p:nvPr/>
        </p:nvSpPr>
        <p:spPr>
          <a:xfrm>
            <a:off x="595313" y="3006179"/>
            <a:ext cx="0" cy="1141214"/>
          </a:xfrm>
          <a:prstGeom prst="line">
            <a:avLst/>
          </a:prstGeom>
          <a:noFill/>
          <a:ln w="47625">
            <a:solidFill>
              <a:srgbClr val="F39C12"/>
            </a:solidFill>
            <a:prstDash val="solid"/>
          </a:ln>
        </p:spPr>
      </p:sp>
      <p:sp>
        <p:nvSpPr>
          <p:cNvPr id="12" name="Text 10"/>
          <p:cNvSpPr/>
          <p:nvPr/>
        </p:nvSpPr>
        <p:spPr>
          <a:xfrm>
            <a:off x="809625" y="3234779"/>
            <a:ext cx="7723823"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555555"/>
                </a:solidFill>
                <a:latin typeface="Arial" pitchFamily="34" charset="0"/>
                <a:ea typeface="Arial" pitchFamily="34" charset="-122"/>
                <a:cs typeface="Arial" pitchFamily="34" charset="-120"/>
              </a:rPr>
              <a:t>"ChatGPT promotes metacognitive laziness as learners become dependent on GenAI assistance, diminishing their own engagement in metacognitive processes."</a:t>
            </a:r>
            <a:endParaRPr lang="en-US" sz="1200" dirty="0"/>
          </a:p>
        </p:txBody>
      </p:sp>
      <p:sp>
        <p:nvSpPr>
          <p:cNvPr id="13" name="Text 11"/>
          <p:cNvSpPr/>
          <p:nvPr/>
        </p:nvSpPr>
        <p:spPr>
          <a:xfrm>
            <a:off x="809625" y="3737521"/>
            <a:ext cx="7723823" cy="181273"/>
          </a:xfrm>
          <a:prstGeom prst="rect">
            <a:avLst/>
          </a:prstGeom>
          <a:noFill/>
          <a:ln/>
        </p:spPr>
        <p:txBody>
          <a:bodyPr wrap="square" lIns="0" tIns="0" rIns="0" bIns="0" rtlCol="0" anchor="t"/>
          <a:lstStyle/>
          <a:p>
            <a:pPr algn="l" indent="0" marL="0">
              <a:lnSpc>
                <a:spcPts val="1428"/>
              </a:lnSpc>
              <a:spcBef>
                <a:spcPts val="600"/>
              </a:spcBef>
              <a:spcAft>
                <a:spcPts val="300"/>
              </a:spcAft>
              <a:buNone/>
            </a:pPr>
            <a:r>
              <a:rPr lang="en-US" sz="1020" dirty="0">
                <a:solidFill>
                  <a:srgbClr val="737373"/>
                </a:solidFill>
                <a:latin typeface="Arial" pitchFamily="34" charset="0"/>
                <a:ea typeface="Arial" pitchFamily="34" charset="-122"/>
                <a:cs typeface="Arial" pitchFamily="34" charset="-120"/>
              </a:rPr>
              <a:t>— Fan et al., 2024</a:t>
            </a:r>
            <a:endParaRPr lang="en-US" sz="1020" dirty="0"/>
          </a:p>
        </p:txBody>
      </p:sp>
      <p:sp>
        <p:nvSpPr>
          <p:cNvPr id="14" name="Text 12"/>
          <p:cNvSpPr/>
          <p:nvPr/>
        </p:nvSpPr>
        <p:spPr>
          <a:xfrm>
            <a:off x="571500" y="4395043"/>
            <a:ext cx="8161020" cy="181273"/>
          </a:xfrm>
          <a:prstGeom prst="rect">
            <a:avLst/>
          </a:prstGeom>
          <a:noFill/>
          <a:ln/>
        </p:spPr>
        <p:txBody>
          <a:bodyPr wrap="square" lIns="0" tIns="0" rIns="0" bIns="0" rtlCol="0" anchor="t"/>
          <a:lstStyle/>
          <a:p>
            <a:pPr algn="l" indent="0" marL="0">
              <a:lnSpc>
                <a:spcPts val="1428"/>
              </a:lnSpc>
              <a:spcBef>
                <a:spcPts val="750"/>
              </a:spcBef>
              <a:spcAft>
                <a:spcPts val="300"/>
              </a:spcAft>
              <a:buNone/>
            </a:pPr>
            <a:r>
              <a:rPr lang="en-US" sz="1020" dirty="0">
                <a:solidFill>
                  <a:srgbClr val="555555"/>
                </a:solidFill>
                <a:latin typeface="Arial" pitchFamily="34" charset="0"/>
                <a:ea typeface="Arial" pitchFamily="34" charset="-122"/>
                <a:cs typeface="Arial" pitchFamily="34" charset="-120"/>
              </a:rPr>
              <a:t>Research shows AI usage increases performance but reduces mental effort, raising questions about genuine learning outcomes.</a:t>
            </a:r>
            <a:endParaRPr lang="en-US" sz="1020" dirty="0"/>
          </a:p>
        </p:txBody>
      </p:sp>
      <p:sp>
        <p:nvSpPr>
          <p:cNvPr id="15" name="Text 13"/>
          <p:cNvSpPr/>
          <p:nvPr/>
        </p:nvSpPr>
        <p:spPr>
          <a:xfrm>
            <a:off x="571500" y="4766816"/>
            <a:ext cx="8161020" cy="170557"/>
          </a:xfrm>
          <a:prstGeom prst="rect">
            <a:avLst/>
          </a:prstGeom>
          <a:noFill/>
          <a:ln/>
        </p:spPr>
        <p:txBody>
          <a:bodyPr wrap="square" lIns="0" tIns="0" rIns="0" bIns="0" rtlCol="0" anchor="t"/>
          <a:lstStyle/>
          <a:p>
            <a:pPr algn="l" indent="0" marL="0">
              <a:lnSpc>
                <a:spcPts val="1344"/>
              </a:lnSpc>
              <a:spcAft>
                <a:spcPts val="300"/>
              </a:spcAft>
              <a:buNone/>
            </a:pPr>
            <a:r>
              <a:rPr lang="en-US" sz="960" dirty="0">
                <a:solidFill>
                  <a:srgbClr val="737373"/>
                </a:solidFill>
                <a:latin typeface="Arial" pitchFamily="34" charset="0"/>
                <a:ea typeface="Arial" pitchFamily="34" charset="-122"/>
                <a:cs typeface="Arial" pitchFamily="34" charset="-120"/>
              </a:rPr>
              <a:t>Sources: Gerlich, 2025; Fan et al., 2024; Deng et al., 2024; Harati et al., 2021</a:t>
            </a:r>
            <a:endParaRPr lang="en-US" sz="9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1257300"/>
            <a:ext cx="8001000" cy="0"/>
          </a:xfrm>
          <a:prstGeom prst="line">
            <a:avLst/>
          </a:prstGeom>
          <a:noFill/>
          <a:ln w="38100">
            <a:solidFill>
              <a:srgbClr val="2ECC71"/>
            </a:solidFill>
            <a:prstDash val="solid"/>
          </a:ln>
        </p:spPr>
      </p:sp>
      <p:sp>
        <p:nvSpPr>
          <p:cNvPr id="3" name="Text 1"/>
          <p:cNvSpPr/>
          <p:nvPr/>
        </p:nvSpPr>
        <p:spPr>
          <a:xfrm>
            <a:off x="571500" y="381000"/>
            <a:ext cx="4595432" cy="857250"/>
          </a:xfrm>
          <a:prstGeom prst="rect">
            <a:avLst/>
          </a:prstGeom>
          <a:noFill/>
          <a:ln/>
        </p:spPr>
        <p:txBody>
          <a:bodyPr wrap="square" lIns="0" tIns="0" rIns="0" bIns="95250" rtlCol="0" anchor="t"/>
          <a:lstStyle/>
          <a:p>
            <a:pPr algn="l" indent="0" marL="0">
              <a:lnSpc>
                <a:spcPts val="3000"/>
              </a:lnSpc>
              <a:buNone/>
            </a:pPr>
            <a:r>
              <a:rPr lang="en-US" sz="2700" b="1" dirty="0">
                <a:solidFill>
                  <a:srgbClr val="2ECC71"/>
                </a:solidFill>
                <a:latin typeface="Arial" pitchFamily="34" charset="0"/>
                <a:ea typeface="Arial" pitchFamily="34" charset="-122"/>
                <a:cs typeface="Arial" pitchFamily="34" charset="-120"/>
              </a:rPr>
              <a:t>Opportunity 1: Accelerating Research &amp; Innovation</a:t>
            </a:r>
            <a:endParaRPr lang="en-US" sz="2700" dirty="0"/>
          </a:p>
        </p:txBody>
      </p:sp>
      <p:sp>
        <p:nvSpPr>
          <p:cNvPr id="4" name="Text 2"/>
          <p:cNvSpPr/>
          <p:nvPr/>
        </p:nvSpPr>
        <p:spPr>
          <a:xfrm>
            <a:off x="571500" y="1274415"/>
            <a:ext cx="2463850" cy="1538883"/>
          </a:xfrm>
          <a:prstGeom prst="roundRect">
            <a:avLst>
              <a:gd name="adj" fmla="val 4952"/>
            </a:avLst>
          </a:prstGeom>
          <a:solidFill>
            <a:srgbClr val="2ECC71"/>
          </a:solidFill>
          <a:ln/>
        </p:spPr>
        <p:txBody>
          <a:bodyPr wrap="square" rtlCol="0" anchor="ctr"/>
          <a:lstStyle/>
          <a:p>
            <a:pPr indent="0" marL="0">
              <a:buNone/>
            </a:pPr>
            <a:endParaRPr lang="en-US" dirty="0"/>
          </a:p>
        </p:txBody>
      </p:sp>
      <p:sp>
        <p:nvSpPr>
          <p:cNvPr id="5" name="Text 3"/>
          <p:cNvSpPr/>
          <p:nvPr/>
        </p:nvSpPr>
        <p:spPr>
          <a:xfrm>
            <a:off x="789749" y="1550640"/>
            <a:ext cx="2027352" cy="533400"/>
          </a:xfrm>
          <a:prstGeom prst="rect">
            <a:avLst/>
          </a:prstGeom>
          <a:noFill/>
          <a:ln/>
        </p:spPr>
        <p:txBody>
          <a:bodyPr wrap="square" lIns="0" tIns="0" rIns="0" bIns="0" rtlCol="0" anchor="t"/>
          <a:lstStyle/>
          <a:p>
            <a:pPr algn="ctr" indent="0" marL="0">
              <a:lnSpc>
                <a:spcPts val="4200"/>
              </a:lnSpc>
              <a:spcBef>
                <a:spcPts val="300"/>
              </a:spcBef>
              <a:spcAft>
                <a:spcPts val="375"/>
              </a:spcAft>
              <a:buNone/>
            </a:pPr>
            <a:r>
              <a:rPr lang="en-US" sz="3000" b="1" dirty="0">
                <a:solidFill>
                  <a:srgbClr val="FFFFFF"/>
                </a:solidFill>
                <a:latin typeface="Arial" pitchFamily="34" charset="0"/>
                <a:ea typeface="Arial" pitchFamily="34" charset="-122"/>
                <a:cs typeface="Arial" pitchFamily="34" charset="-120"/>
              </a:rPr>
              <a:t>14 Days</a:t>
            </a:r>
            <a:endParaRPr lang="en-US" sz="3000" dirty="0"/>
          </a:p>
        </p:txBody>
      </p:sp>
      <p:sp>
        <p:nvSpPr>
          <p:cNvPr id="6" name="Text 4"/>
          <p:cNvSpPr/>
          <p:nvPr/>
        </p:nvSpPr>
        <p:spPr>
          <a:xfrm>
            <a:off x="789749" y="2131665"/>
            <a:ext cx="2027352" cy="405408"/>
          </a:xfrm>
          <a:prstGeom prst="rect">
            <a:avLst/>
          </a:prstGeom>
          <a:noFill/>
          <a:ln/>
        </p:spPr>
        <p:txBody>
          <a:bodyPr wrap="square" lIns="0" tIns="0" rIns="0" bIns="0" rtlCol="0" anchor="t"/>
          <a:lstStyle/>
          <a:p>
            <a:pPr algn="ctr" indent="0" marL="0">
              <a:lnSpc>
                <a:spcPts val="1596"/>
              </a:lnSpc>
              <a:spcBef>
                <a:spcPts val="300"/>
              </a:spcBef>
              <a:spcAft>
                <a:spcPts val="300"/>
              </a:spcAft>
              <a:buNone/>
            </a:pPr>
            <a:r>
              <a:rPr lang="en-US" sz="1140" dirty="0">
                <a:solidFill>
                  <a:srgbClr val="FFFFFF"/>
                </a:solidFill>
                <a:latin typeface="Arial" pitchFamily="34" charset="0"/>
                <a:ea typeface="Arial" pitchFamily="34" charset="-122"/>
                <a:cs typeface="Arial" pitchFamily="34" charset="-120"/>
              </a:rPr>
              <a:t>Dissertation-equivalent work in genetics</a:t>
            </a:r>
            <a:endParaRPr lang="en-US" sz="1140" dirty="0"/>
          </a:p>
        </p:txBody>
      </p:sp>
      <p:sp>
        <p:nvSpPr>
          <p:cNvPr id="7" name="Text 5"/>
          <p:cNvSpPr/>
          <p:nvPr/>
        </p:nvSpPr>
        <p:spPr>
          <a:xfrm>
            <a:off x="3340150" y="1274415"/>
            <a:ext cx="2463850" cy="1538883"/>
          </a:xfrm>
          <a:prstGeom prst="roundRect">
            <a:avLst>
              <a:gd name="adj" fmla="val 4952"/>
            </a:avLst>
          </a:prstGeom>
          <a:solidFill>
            <a:srgbClr val="1C4E80"/>
          </a:solidFill>
          <a:ln/>
        </p:spPr>
        <p:txBody>
          <a:bodyPr wrap="square" rtlCol="0" anchor="ctr"/>
          <a:lstStyle/>
          <a:p>
            <a:pPr indent="0" marL="0">
              <a:buNone/>
            </a:pPr>
            <a:endParaRPr lang="en-US" dirty="0"/>
          </a:p>
        </p:txBody>
      </p:sp>
      <p:sp>
        <p:nvSpPr>
          <p:cNvPr id="8" name="Text 6"/>
          <p:cNvSpPr/>
          <p:nvPr/>
        </p:nvSpPr>
        <p:spPr>
          <a:xfrm>
            <a:off x="3558399" y="1550640"/>
            <a:ext cx="2027352" cy="533400"/>
          </a:xfrm>
          <a:prstGeom prst="rect">
            <a:avLst/>
          </a:prstGeom>
          <a:noFill/>
          <a:ln/>
        </p:spPr>
        <p:txBody>
          <a:bodyPr wrap="square" lIns="0" tIns="0" rIns="0" bIns="0" rtlCol="0" anchor="t"/>
          <a:lstStyle/>
          <a:p>
            <a:pPr algn="ctr" indent="0" marL="0">
              <a:lnSpc>
                <a:spcPts val="4200"/>
              </a:lnSpc>
              <a:spcBef>
                <a:spcPts val="300"/>
              </a:spcBef>
              <a:spcAft>
                <a:spcPts val="375"/>
              </a:spcAft>
              <a:buNone/>
            </a:pPr>
            <a:r>
              <a:rPr lang="en-US" sz="3000" b="1" dirty="0">
                <a:solidFill>
                  <a:srgbClr val="FFFFFF"/>
                </a:solidFill>
                <a:latin typeface="Arial" pitchFamily="34" charset="0"/>
                <a:ea typeface="Arial" pitchFamily="34" charset="-122"/>
                <a:cs typeface="Arial" pitchFamily="34" charset="-120"/>
              </a:rPr>
              <a:t>20x</a:t>
            </a:r>
            <a:endParaRPr lang="en-US" sz="3000" dirty="0"/>
          </a:p>
        </p:txBody>
      </p:sp>
      <p:sp>
        <p:nvSpPr>
          <p:cNvPr id="9" name="Text 7"/>
          <p:cNvSpPr/>
          <p:nvPr/>
        </p:nvSpPr>
        <p:spPr>
          <a:xfrm>
            <a:off x="3558399" y="2131665"/>
            <a:ext cx="2027352" cy="405408"/>
          </a:xfrm>
          <a:prstGeom prst="rect">
            <a:avLst/>
          </a:prstGeom>
          <a:noFill/>
          <a:ln/>
        </p:spPr>
        <p:txBody>
          <a:bodyPr wrap="square" lIns="0" tIns="0" rIns="0" bIns="0" rtlCol="0" anchor="t"/>
          <a:lstStyle/>
          <a:p>
            <a:pPr algn="ctr" indent="0" marL="0">
              <a:lnSpc>
                <a:spcPts val="1596"/>
              </a:lnSpc>
              <a:spcBef>
                <a:spcPts val="300"/>
              </a:spcBef>
              <a:spcAft>
                <a:spcPts val="300"/>
              </a:spcAft>
              <a:buNone/>
            </a:pPr>
            <a:r>
              <a:rPr lang="en-US" sz="1140" dirty="0">
                <a:solidFill>
                  <a:srgbClr val="FFFFFF"/>
                </a:solidFill>
                <a:latin typeface="Arial" pitchFamily="34" charset="0"/>
                <a:ea typeface="Arial" pitchFamily="34" charset="-122"/>
                <a:cs typeface="Arial" pitchFamily="34" charset="-120"/>
              </a:rPr>
              <a:t>Potential PhD research output increase</a:t>
            </a:r>
            <a:endParaRPr lang="en-US" sz="1140" dirty="0"/>
          </a:p>
        </p:txBody>
      </p:sp>
      <p:sp>
        <p:nvSpPr>
          <p:cNvPr id="10" name="Text 8"/>
          <p:cNvSpPr/>
          <p:nvPr/>
        </p:nvSpPr>
        <p:spPr>
          <a:xfrm>
            <a:off x="6108799" y="1274415"/>
            <a:ext cx="2463850" cy="1538883"/>
          </a:xfrm>
          <a:prstGeom prst="roundRect">
            <a:avLst>
              <a:gd name="adj" fmla="val 4952"/>
            </a:avLst>
          </a:prstGeom>
          <a:solidFill>
            <a:srgbClr val="5EA8A7"/>
          </a:solidFill>
          <a:ln/>
        </p:spPr>
        <p:txBody>
          <a:bodyPr wrap="square" rtlCol="0" anchor="ctr"/>
          <a:lstStyle/>
          <a:p>
            <a:pPr indent="0" marL="0">
              <a:buNone/>
            </a:pPr>
            <a:endParaRPr lang="en-US" dirty="0"/>
          </a:p>
        </p:txBody>
      </p:sp>
      <p:sp>
        <p:nvSpPr>
          <p:cNvPr id="11" name="Text 9"/>
          <p:cNvSpPr/>
          <p:nvPr/>
        </p:nvSpPr>
        <p:spPr>
          <a:xfrm>
            <a:off x="6327048" y="1550640"/>
            <a:ext cx="2027352" cy="533400"/>
          </a:xfrm>
          <a:prstGeom prst="rect">
            <a:avLst/>
          </a:prstGeom>
          <a:noFill/>
          <a:ln/>
        </p:spPr>
        <p:txBody>
          <a:bodyPr wrap="square" lIns="0" tIns="0" rIns="0" bIns="0" rtlCol="0" anchor="t"/>
          <a:lstStyle/>
          <a:p>
            <a:pPr algn="ctr" indent="0" marL="0">
              <a:lnSpc>
                <a:spcPts val="4200"/>
              </a:lnSpc>
              <a:spcBef>
                <a:spcPts val="300"/>
              </a:spcBef>
              <a:spcAft>
                <a:spcPts val="375"/>
              </a:spcAft>
              <a:buNone/>
            </a:pPr>
            <a:r>
              <a:rPr lang="en-US" sz="3000" b="1" dirty="0">
                <a:solidFill>
                  <a:srgbClr val="FFFFFF"/>
                </a:solidFill>
                <a:latin typeface="Arial" pitchFamily="34" charset="0"/>
                <a:ea typeface="Arial" pitchFamily="34" charset="-122"/>
                <a:cs typeface="Arial" pitchFamily="34" charset="-120"/>
              </a:rPr>
              <a:t>50+</a:t>
            </a:r>
            <a:endParaRPr lang="en-US" sz="3000" dirty="0"/>
          </a:p>
        </p:txBody>
      </p:sp>
      <p:sp>
        <p:nvSpPr>
          <p:cNvPr id="12" name="Text 10"/>
          <p:cNvSpPr/>
          <p:nvPr/>
        </p:nvSpPr>
        <p:spPr>
          <a:xfrm>
            <a:off x="6327048" y="2131665"/>
            <a:ext cx="2027352" cy="405408"/>
          </a:xfrm>
          <a:prstGeom prst="rect">
            <a:avLst/>
          </a:prstGeom>
          <a:noFill/>
          <a:ln/>
        </p:spPr>
        <p:txBody>
          <a:bodyPr wrap="square" lIns="0" tIns="0" rIns="0" bIns="0" rtlCol="0" anchor="t"/>
          <a:lstStyle/>
          <a:p>
            <a:pPr algn="ctr" indent="0" marL="0">
              <a:lnSpc>
                <a:spcPts val="1596"/>
              </a:lnSpc>
              <a:spcBef>
                <a:spcPts val="300"/>
              </a:spcBef>
              <a:spcAft>
                <a:spcPts val="300"/>
              </a:spcAft>
              <a:buNone/>
            </a:pPr>
            <a:r>
              <a:rPr lang="en-US" sz="1140" dirty="0">
                <a:solidFill>
                  <a:srgbClr val="FFFFFF"/>
                </a:solidFill>
                <a:latin typeface="Arial" pitchFamily="34" charset="0"/>
                <a:ea typeface="Arial" pitchFamily="34" charset="-122"/>
                <a:cs typeface="Arial" pitchFamily="34" charset="-120"/>
              </a:rPr>
              <a:t>Research groups at ASU using AI</a:t>
            </a:r>
            <a:endParaRPr lang="en-US" sz="1140" dirty="0"/>
          </a:p>
        </p:txBody>
      </p:sp>
      <p:sp>
        <p:nvSpPr>
          <p:cNvPr id="13" name="Text 11"/>
          <p:cNvSpPr/>
          <p:nvPr/>
        </p:nvSpPr>
        <p:spPr>
          <a:xfrm>
            <a:off x="571500" y="3156198"/>
            <a:ext cx="8161020" cy="237679"/>
          </a:xfrm>
          <a:prstGeom prst="rect">
            <a:avLst/>
          </a:prstGeom>
          <a:noFill/>
          <a:ln/>
        </p:spPr>
        <p:txBody>
          <a:bodyPr wrap="square" lIns="0" tIns="0" rIns="0" bIns="0" rtlCol="0" anchor="t"/>
          <a:lstStyle/>
          <a:p>
            <a:pPr algn="l" indent="0" marL="0">
              <a:lnSpc>
                <a:spcPts val="1872"/>
              </a:lnSpc>
              <a:spcAft>
                <a:spcPts val="1125"/>
              </a:spcAft>
              <a:buNone/>
            </a:pPr>
            <a:r>
              <a:rPr lang="en-US" sz="1560" b="1" dirty="0">
                <a:solidFill>
                  <a:srgbClr val="1C4E80"/>
                </a:solidFill>
                <a:latin typeface="Arial" pitchFamily="34" charset="0"/>
                <a:ea typeface="Arial" pitchFamily="34" charset="-122"/>
                <a:cs typeface="Arial" pitchFamily="34" charset="-120"/>
              </a:rPr>
              <a:t>Research Applications</a:t>
            </a:r>
            <a:endParaRPr lang="en-US" sz="1560" dirty="0"/>
          </a:p>
        </p:txBody>
      </p:sp>
      <p:sp>
        <p:nvSpPr>
          <p:cNvPr id="14" name="Text 12"/>
          <p:cNvSpPr/>
          <p:nvPr/>
        </p:nvSpPr>
        <p:spPr>
          <a:xfrm>
            <a:off x="571500" y="3689152"/>
            <a:ext cx="8001000" cy="876300"/>
          </a:xfrm>
          <a:prstGeom prst="rect">
            <a:avLst/>
          </a:prstGeom>
          <a:noFill/>
          <a:ln/>
        </p:spPr>
        <p:txBody>
          <a:bodyPr wrap="square" lIns="76200" tIns="0" rIns="0" bIns="0" rtlCol="0" anchor="t"/>
          <a:lstStyle/>
          <a:p>
            <a:pPr algn="l" marL="76200" indent="-76200">
              <a:lnSpc>
                <a:spcPts val="2100"/>
              </a:lnSpc>
              <a:buSzPct val="100000"/>
              <a:buChar char="•"/>
            </a:pPr>
            <a:r>
              <a:rPr lang="en-US" sz="1350" dirty="0">
                <a:solidFill>
                  <a:srgbClr val="1D1D1D"/>
                </a:solidFill>
                <a:latin typeface="Arial" pitchFamily="34" charset="0"/>
                <a:ea typeface="Arial" pitchFamily="34" charset="-122"/>
                <a:cs typeface="Arial" pitchFamily="34" charset="-120"/>
              </a:rPr>
              <a:t>Solving previously unsolvable problems in chemistry and materials science</a:t>
            </a:r>
            <a:endParaRPr lang="en-US" sz="1350" dirty="0"/>
          </a:p>
          <a:p>
            <a:pPr algn="l" marL="76200" indent="-76200">
              <a:lnSpc>
                <a:spcPts val="2100"/>
              </a:lnSpc>
              <a:buSzPct val="100000"/>
              <a:buChar char="•"/>
            </a:pPr>
            <a:r>
              <a:rPr lang="en-US" sz="1350" dirty="0">
                <a:solidFill>
                  <a:srgbClr val="1D1D1D"/>
                </a:solidFill>
                <a:latin typeface="Arial" pitchFamily="34" charset="0"/>
                <a:ea typeface="Arial" pitchFamily="34" charset="-122"/>
                <a:cs typeface="Arial" pitchFamily="34" charset="-120"/>
              </a:rPr>
              <a:t>Accelerating cures for cancer and neurodegenerative diseases</a:t>
            </a:r>
            <a:endParaRPr lang="en-US" sz="1350" dirty="0"/>
          </a:p>
          <a:p>
            <a:pPr algn="l" marL="76200" indent="-76200">
              <a:lnSpc>
                <a:spcPts val="2100"/>
              </a:lnSpc>
              <a:buSzPct val="100000"/>
              <a:buChar char="•"/>
            </a:pPr>
            <a:r>
              <a:rPr lang="en-US" sz="1350" dirty="0">
                <a:solidFill>
                  <a:srgbClr val="1D1D1D"/>
                </a:solidFill>
                <a:latin typeface="Arial" pitchFamily="34" charset="0"/>
                <a:ea typeface="Arial" pitchFamily="34" charset="-122"/>
                <a:cs typeface="Arial" pitchFamily="34" charset="-120"/>
              </a:rPr>
              <a:t>Complex systems modeling and breakthrough discoveries</a:t>
            </a:r>
            <a:endParaRPr lang="en-US" sz="1350" dirty="0"/>
          </a:p>
        </p:txBody>
      </p:sp>
      <p:sp>
        <p:nvSpPr>
          <p:cNvPr id="15" name="Text 13"/>
          <p:cNvSpPr/>
          <p:nvPr/>
        </p:nvSpPr>
        <p:spPr>
          <a:xfrm>
            <a:off x="571500" y="4755952"/>
            <a:ext cx="8161020" cy="170557"/>
          </a:xfrm>
          <a:prstGeom prst="rect">
            <a:avLst/>
          </a:prstGeom>
          <a:noFill/>
          <a:ln/>
        </p:spPr>
        <p:txBody>
          <a:bodyPr wrap="square" lIns="0" tIns="0" rIns="0" bIns="0" rtlCol="0" anchor="t"/>
          <a:lstStyle/>
          <a:p>
            <a:pPr algn="l" indent="0" marL="0">
              <a:lnSpc>
                <a:spcPts val="1344"/>
              </a:lnSpc>
              <a:spcBef>
                <a:spcPts val="300"/>
              </a:spcBef>
              <a:spcAft>
                <a:spcPts val="300"/>
              </a:spcAft>
              <a:buNone/>
            </a:pPr>
            <a:r>
              <a:rPr lang="en-US" sz="960" dirty="0">
                <a:solidFill>
                  <a:srgbClr val="737373"/>
                </a:solidFill>
                <a:latin typeface="Arial" pitchFamily="34" charset="0"/>
                <a:ea typeface="Arial" pitchFamily="34" charset="-122"/>
                <a:cs typeface="Arial" pitchFamily="34" charset="-120"/>
              </a:rPr>
              <a:t>Sources: Crow Interview, 2025</a:t>
            </a:r>
            <a:endParaRPr lang="en-US" sz="9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971550"/>
            <a:ext cx="8001000" cy="0"/>
          </a:xfrm>
          <a:prstGeom prst="line">
            <a:avLst/>
          </a:prstGeom>
          <a:noFill/>
          <a:ln w="38100">
            <a:solidFill>
              <a:srgbClr val="5EA8A7"/>
            </a:solidFill>
            <a:prstDash val="solid"/>
          </a:ln>
        </p:spPr>
      </p:sp>
      <p:sp>
        <p:nvSpPr>
          <p:cNvPr id="3" name="Text 1"/>
          <p:cNvSpPr/>
          <p:nvPr/>
        </p:nvSpPr>
        <p:spPr>
          <a:xfrm>
            <a:off x="571500" y="476250"/>
            <a:ext cx="7665530" cy="476250"/>
          </a:xfrm>
          <a:prstGeom prst="rect">
            <a:avLst/>
          </a:prstGeom>
          <a:noFill/>
          <a:ln/>
        </p:spPr>
        <p:txBody>
          <a:bodyPr wrap="square" lIns="0" tIns="0" rIns="0" bIns="95250" rtlCol="0" anchor="t"/>
          <a:lstStyle/>
          <a:p>
            <a:pPr algn="l" indent="0" marL="0">
              <a:lnSpc>
                <a:spcPts val="3000"/>
              </a:lnSpc>
              <a:buNone/>
            </a:pPr>
            <a:r>
              <a:rPr lang="en-US" sz="2700" b="1" dirty="0">
                <a:solidFill>
                  <a:srgbClr val="2ECC71"/>
                </a:solidFill>
                <a:latin typeface="Arial" pitchFamily="34" charset="0"/>
                <a:ea typeface="Arial" pitchFamily="34" charset="-122"/>
                <a:cs typeface="Arial" pitchFamily="34" charset="-120"/>
              </a:rPr>
              <a:t>Opportunity 2: Personalized Learning at Scale</a:t>
            </a:r>
            <a:endParaRPr lang="en-US" sz="2700" dirty="0"/>
          </a:p>
        </p:txBody>
      </p:sp>
      <p:sp>
        <p:nvSpPr>
          <p:cNvPr id="4" name="Text 2"/>
          <p:cNvSpPr/>
          <p:nvPr/>
        </p:nvSpPr>
        <p:spPr>
          <a:xfrm>
            <a:off x="571500" y="1147167"/>
            <a:ext cx="3848100" cy="1336179"/>
          </a:xfrm>
          <a:prstGeom prst="roundRect">
            <a:avLst>
              <a:gd name="adj" fmla="val 5703"/>
            </a:avLst>
          </a:prstGeom>
          <a:solidFill>
            <a:srgbClr val="1C4E80"/>
          </a:solidFill>
          <a:ln/>
        </p:spPr>
        <p:txBody>
          <a:bodyPr wrap="square" rtlCol="0" anchor="ctr"/>
          <a:lstStyle/>
          <a:p>
            <a:pPr indent="0" marL="0">
              <a:buNone/>
            </a:pPr>
            <a:endParaRPr lang="en-US" dirty="0"/>
          </a:p>
        </p:txBody>
      </p:sp>
      <p:sp>
        <p:nvSpPr>
          <p:cNvPr id="5" name="Text 3"/>
          <p:cNvSpPr/>
          <p:nvPr/>
        </p:nvSpPr>
        <p:spPr>
          <a:xfrm>
            <a:off x="775907" y="1423392"/>
            <a:ext cx="3439287" cy="533400"/>
          </a:xfrm>
          <a:prstGeom prst="rect">
            <a:avLst/>
          </a:prstGeom>
          <a:noFill/>
          <a:ln/>
        </p:spPr>
        <p:txBody>
          <a:bodyPr wrap="square" lIns="0" tIns="0" rIns="0" bIns="0" rtlCol="0" anchor="t"/>
          <a:lstStyle/>
          <a:p>
            <a:pPr algn="ctr" indent="0" marL="0">
              <a:lnSpc>
                <a:spcPts val="4200"/>
              </a:lnSpc>
              <a:spcBef>
                <a:spcPts val="300"/>
              </a:spcBef>
              <a:spcAft>
                <a:spcPts val="375"/>
              </a:spcAft>
              <a:buNone/>
            </a:pPr>
            <a:r>
              <a:rPr lang="en-US" sz="3000" b="1" dirty="0">
                <a:solidFill>
                  <a:srgbClr val="FFFFFF"/>
                </a:solidFill>
                <a:latin typeface="Arial" pitchFamily="34" charset="0"/>
                <a:ea typeface="Arial" pitchFamily="34" charset="-122"/>
                <a:cs typeface="Arial" pitchFamily="34" charset="-120"/>
              </a:rPr>
              <a:t>64%</a:t>
            </a:r>
            <a:endParaRPr lang="en-US" sz="3000" dirty="0"/>
          </a:p>
        </p:txBody>
      </p:sp>
      <p:sp>
        <p:nvSpPr>
          <p:cNvPr id="6" name="Text 4"/>
          <p:cNvSpPr/>
          <p:nvPr/>
        </p:nvSpPr>
        <p:spPr>
          <a:xfrm>
            <a:off x="775907" y="2004417"/>
            <a:ext cx="3439287" cy="202704"/>
          </a:xfrm>
          <a:prstGeom prst="rect">
            <a:avLst/>
          </a:prstGeom>
          <a:noFill/>
          <a:ln/>
        </p:spPr>
        <p:txBody>
          <a:bodyPr wrap="square" lIns="0" tIns="0" rIns="0" bIns="0" rtlCol="0" anchor="t"/>
          <a:lstStyle/>
          <a:p>
            <a:pPr algn="ctr" indent="0" marL="0">
              <a:lnSpc>
                <a:spcPts val="1596"/>
              </a:lnSpc>
              <a:spcBef>
                <a:spcPts val="300"/>
              </a:spcBef>
              <a:spcAft>
                <a:spcPts val="300"/>
              </a:spcAft>
              <a:buNone/>
            </a:pPr>
            <a:r>
              <a:rPr lang="en-US" sz="1140" dirty="0">
                <a:solidFill>
                  <a:srgbClr val="FFFFFF"/>
                </a:solidFill>
                <a:latin typeface="Arial" pitchFamily="34" charset="0"/>
                <a:ea typeface="Arial" pitchFamily="34" charset="-122"/>
                <a:cs typeface="Arial" pitchFamily="34" charset="-120"/>
              </a:rPr>
              <a:t>Institutions using predictive AI</a:t>
            </a:r>
            <a:endParaRPr lang="en-US" sz="1140" dirty="0"/>
          </a:p>
        </p:txBody>
      </p:sp>
      <p:sp>
        <p:nvSpPr>
          <p:cNvPr id="7" name="Text 5"/>
          <p:cNvSpPr/>
          <p:nvPr/>
        </p:nvSpPr>
        <p:spPr>
          <a:xfrm>
            <a:off x="4724400" y="1147167"/>
            <a:ext cx="3848100" cy="1336179"/>
          </a:xfrm>
          <a:prstGeom prst="roundRect">
            <a:avLst>
              <a:gd name="adj" fmla="val 5703"/>
            </a:avLst>
          </a:prstGeom>
          <a:solidFill>
            <a:srgbClr val="5EA8A7"/>
          </a:solidFill>
          <a:ln/>
        </p:spPr>
        <p:txBody>
          <a:bodyPr wrap="square" rtlCol="0" anchor="ctr"/>
          <a:lstStyle/>
          <a:p>
            <a:pPr indent="0" marL="0">
              <a:buNone/>
            </a:pPr>
            <a:endParaRPr lang="en-US" dirty="0"/>
          </a:p>
        </p:txBody>
      </p:sp>
      <p:sp>
        <p:nvSpPr>
          <p:cNvPr id="8" name="Text 6"/>
          <p:cNvSpPr/>
          <p:nvPr/>
        </p:nvSpPr>
        <p:spPr>
          <a:xfrm>
            <a:off x="4928807" y="1423392"/>
            <a:ext cx="3439287" cy="533400"/>
          </a:xfrm>
          <a:prstGeom prst="rect">
            <a:avLst/>
          </a:prstGeom>
          <a:noFill/>
          <a:ln/>
        </p:spPr>
        <p:txBody>
          <a:bodyPr wrap="square" lIns="0" tIns="0" rIns="0" bIns="0" rtlCol="0" anchor="t"/>
          <a:lstStyle/>
          <a:p>
            <a:pPr algn="ctr" indent="0" marL="0">
              <a:lnSpc>
                <a:spcPts val="4200"/>
              </a:lnSpc>
              <a:spcBef>
                <a:spcPts val="300"/>
              </a:spcBef>
              <a:spcAft>
                <a:spcPts val="375"/>
              </a:spcAft>
              <a:buNone/>
            </a:pPr>
            <a:r>
              <a:rPr lang="en-US" sz="3000" b="1" dirty="0">
                <a:solidFill>
                  <a:srgbClr val="FFFFFF"/>
                </a:solidFill>
                <a:latin typeface="Arial" pitchFamily="34" charset="0"/>
                <a:ea typeface="Arial" pitchFamily="34" charset="-122"/>
                <a:cs typeface="Arial" pitchFamily="34" charset="-120"/>
              </a:rPr>
              <a:t>57%</a:t>
            </a:r>
            <a:endParaRPr lang="en-US" sz="3000" dirty="0"/>
          </a:p>
        </p:txBody>
      </p:sp>
      <p:sp>
        <p:nvSpPr>
          <p:cNvPr id="9" name="Text 7"/>
          <p:cNvSpPr/>
          <p:nvPr/>
        </p:nvSpPr>
        <p:spPr>
          <a:xfrm>
            <a:off x="4928807" y="2004417"/>
            <a:ext cx="3439287" cy="202704"/>
          </a:xfrm>
          <a:prstGeom prst="rect">
            <a:avLst/>
          </a:prstGeom>
          <a:noFill/>
          <a:ln/>
        </p:spPr>
        <p:txBody>
          <a:bodyPr wrap="square" lIns="0" tIns="0" rIns="0" bIns="0" rtlCol="0" anchor="t"/>
          <a:lstStyle/>
          <a:p>
            <a:pPr algn="ctr" indent="0" marL="0">
              <a:lnSpc>
                <a:spcPts val="1596"/>
              </a:lnSpc>
              <a:spcBef>
                <a:spcPts val="300"/>
              </a:spcBef>
              <a:spcAft>
                <a:spcPts val="300"/>
              </a:spcAft>
              <a:buNone/>
            </a:pPr>
            <a:r>
              <a:rPr lang="en-US" sz="1140" dirty="0">
                <a:solidFill>
                  <a:srgbClr val="FFFFFF"/>
                </a:solidFill>
                <a:latin typeface="Arial" pitchFamily="34" charset="0"/>
                <a:ea typeface="Arial" pitchFamily="34" charset="-122"/>
                <a:cs typeface="Arial" pitchFamily="34" charset="-120"/>
              </a:rPr>
              <a:t>Institutions prioritizing AI in 2025</a:t>
            </a:r>
            <a:endParaRPr lang="en-US" sz="1140" dirty="0"/>
          </a:p>
        </p:txBody>
      </p:sp>
      <p:sp>
        <p:nvSpPr>
          <p:cNvPr id="10" name="Text 8"/>
          <p:cNvSpPr/>
          <p:nvPr/>
        </p:nvSpPr>
        <p:spPr>
          <a:xfrm>
            <a:off x="571500" y="2826246"/>
            <a:ext cx="8161020" cy="237679"/>
          </a:xfrm>
          <a:prstGeom prst="rect">
            <a:avLst/>
          </a:prstGeom>
          <a:noFill/>
          <a:ln/>
        </p:spPr>
        <p:txBody>
          <a:bodyPr wrap="square" lIns="0" tIns="0" rIns="0" bIns="0" rtlCol="0" anchor="t"/>
          <a:lstStyle/>
          <a:p>
            <a:pPr algn="l" indent="0" marL="0">
              <a:lnSpc>
                <a:spcPts val="1872"/>
              </a:lnSpc>
              <a:spcAft>
                <a:spcPts val="1125"/>
              </a:spcAft>
              <a:buNone/>
            </a:pPr>
            <a:r>
              <a:rPr lang="en-US" sz="1560" b="1" dirty="0">
                <a:solidFill>
                  <a:srgbClr val="1C4E80"/>
                </a:solidFill>
                <a:latin typeface="Arial" pitchFamily="34" charset="0"/>
                <a:ea typeface="Arial" pitchFamily="34" charset="-122"/>
                <a:cs typeface="Arial" pitchFamily="34" charset="-120"/>
              </a:rPr>
              <a:t>Personalization Benefits</a:t>
            </a:r>
            <a:endParaRPr lang="en-US" sz="1560" dirty="0"/>
          </a:p>
        </p:txBody>
      </p:sp>
      <p:sp>
        <p:nvSpPr>
          <p:cNvPr id="11" name="Text 9"/>
          <p:cNvSpPr/>
          <p:nvPr/>
        </p:nvSpPr>
        <p:spPr>
          <a:xfrm>
            <a:off x="571500" y="3359200"/>
            <a:ext cx="8001000" cy="1181100"/>
          </a:xfrm>
          <a:prstGeom prst="rect">
            <a:avLst/>
          </a:prstGeom>
          <a:noFill/>
          <a:ln/>
        </p:spPr>
        <p:txBody>
          <a:bodyPr wrap="square" lIns="76200" tIns="0" rIns="0" bIns="0" rtlCol="0" anchor="t"/>
          <a:lstStyle/>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Adaptive pathways:</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Content adjusts to individual learning pace and style</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Real-time feedback:</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Immediate, personalized guidance for every student</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At-risk identification:</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Early intervention for struggling learners</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Enhanced engagement:</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Improved satisfaction and academic performance</a:t>
            </a:r>
            <a:endParaRPr lang="en-US" sz="1350" dirty="0"/>
          </a:p>
        </p:txBody>
      </p:sp>
      <p:sp>
        <p:nvSpPr>
          <p:cNvPr id="12" name="Text 10"/>
          <p:cNvSpPr/>
          <p:nvPr/>
        </p:nvSpPr>
        <p:spPr>
          <a:xfrm>
            <a:off x="571500" y="4692700"/>
            <a:ext cx="8161020" cy="170557"/>
          </a:xfrm>
          <a:prstGeom prst="rect">
            <a:avLst/>
          </a:prstGeom>
          <a:noFill/>
          <a:ln/>
        </p:spPr>
        <p:txBody>
          <a:bodyPr wrap="square" lIns="0" tIns="0" rIns="0" bIns="0" rtlCol="0" anchor="t"/>
          <a:lstStyle/>
          <a:p>
            <a:pPr algn="l" indent="0" marL="0">
              <a:lnSpc>
                <a:spcPts val="1344"/>
              </a:lnSpc>
              <a:spcAft>
                <a:spcPts val="300"/>
              </a:spcAft>
              <a:buNone/>
            </a:pPr>
            <a:r>
              <a:rPr lang="en-US" sz="960" dirty="0">
                <a:solidFill>
                  <a:srgbClr val="737373"/>
                </a:solidFill>
                <a:latin typeface="Arial" pitchFamily="34" charset="0"/>
                <a:ea typeface="Arial" pitchFamily="34" charset="-122"/>
                <a:cs typeface="Arial" pitchFamily="34" charset="-120"/>
              </a:rPr>
              <a:t>Sources: Workday/IDC Research, 2025; EDUCAUSE Survey, 2025; Demartini et al., 2024</a:t>
            </a:r>
            <a:endParaRPr lang="en-US" sz="9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1257300"/>
            <a:ext cx="8001000" cy="0"/>
          </a:xfrm>
          <a:prstGeom prst="line">
            <a:avLst/>
          </a:prstGeom>
          <a:noFill/>
          <a:ln w="38100">
            <a:solidFill>
              <a:srgbClr val="2ECC71"/>
            </a:solidFill>
            <a:prstDash val="solid"/>
          </a:ln>
        </p:spPr>
      </p:sp>
      <p:sp>
        <p:nvSpPr>
          <p:cNvPr id="3" name="Text 1"/>
          <p:cNvSpPr/>
          <p:nvPr/>
        </p:nvSpPr>
        <p:spPr>
          <a:xfrm>
            <a:off x="571500" y="381000"/>
            <a:ext cx="4925759" cy="857250"/>
          </a:xfrm>
          <a:prstGeom prst="rect">
            <a:avLst/>
          </a:prstGeom>
          <a:noFill/>
          <a:ln/>
        </p:spPr>
        <p:txBody>
          <a:bodyPr wrap="square" lIns="0" tIns="0" rIns="0" bIns="95250" rtlCol="0" anchor="t"/>
          <a:lstStyle/>
          <a:p>
            <a:pPr algn="l" indent="0" marL="0">
              <a:lnSpc>
                <a:spcPts val="3000"/>
              </a:lnSpc>
              <a:buNone/>
            </a:pPr>
            <a:r>
              <a:rPr lang="en-US" sz="2700" b="1" dirty="0">
                <a:solidFill>
                  <a:srgbClr val="2ECC71"/>
                </a:solidFill>
                <a:latin typeface="Arial" pitchFamily="34" charset="0"/>
                <a:ea typeface="Arial" pitchFamily="34" charset="-122"/>
                <a:cs typeface="Arial" pitchFamily="34" charset="-120"/>
              </a:rPr>
              <a:t>Opportunity 3: Democratizing Access to Knowledge</a:t>
            </a:r>
            <a:endParaRPr lang="en-US" sz="2700" dirty="0"/>
          </a:p>
        </p:txBody>
      </p:sp>
      <p:sp>
        <p:nvSpPr>
          <p:cNvPr id="4" name="Text 2"/>
          <p:cNvSpPr/>
          <p:nvPr/>
        </p:nvSpPr>
        <p:spPr>
          <a:xfrm>
            <a:off x="571500" y="1308497"/>
            <a:ext cx="8001000" cy="1213545"/>
          </a:xfrm>
          <a:prstGeom prst="roundRect">
            <a:avLst>
              <a:gd name="adj" fmla="val 3924"/>
            </a:avLst>
          </a:prstGeom>
          <a:solidFill>
            <a:srgbClr val="F8F9FA"/>
          </a:solidFill>
          <a:ln/>
        </p:spPr>
        <p:txBody>
          <a:bodyPr wrap="square" rtlCol="0" anchor="ctr"/>
          <a:lstStyle/>
          <a:p>
            <a:pPr indent="0" marL="0">
              <a:buNone/>
            </a:pPr>
            <a:endParaRPr lang="en-US" dirty="0"/>
          </a:p>
        </p:txBody>
      </p:sp>
      <p:sp>
        <p:nvSpPr>
          <p:cNvPr id="5" name="Shape 3"/>
          <p:cNvSpPr/>
          <p:nvPr/>
        </p:nvSpPr>
        <p:spPr>
          <a:xfrm>
            <a:off x="595313" y="1308497"/>
            <a:ext cx="0" cy="1213545"/>
          </a:xfrm>
          <a:prstGeom prst="line">
            <a:avLst/>
          </a:prstGeom>
          <a:noFill/>
          <a:ln w="47625">
            <a:solidFill>
              <a:srgbClr val="2ECC71"/>
            </a:solidFill>
            <a:prstDash val="solid"/>
          </a:ln>
        </p:spPr>
      </p:sp>
      <p:sp>
        <p:nvSpPr>
          <p:cNvPr id="6" name="Text 4"/>
          <p:cNvSpPr/>
          <p:nvPr/>
        </p:nvSpPr>
        <p:spPr>
          <a:xfrm>
            <a:off x="809625" y="1537097"/>
            <a:ext cx="7723823" cy="469106"/>
          </a:xfrm>
          <a:prstGeom prst="rect">
            <a:avLst/>
          </a:prstGeom>
          <a:noFill/>
          <a:ln/>
        </p:spPr>
        <p:txBody>
          <a:bodyPr wrap="square" lIns="0" tIns="0" rIns="0" bIns="0" rtlCol="0" anchor="t"/>
          <a:lstStyle/>
          <a:p>
            <a:pPr algn="l" indent="0" marL="0">
              <a:lnSpc>
                <a:spcPts val="1848"/>
              </a:lnSpc>
              <a:spcBef>
                <a:spcPts val="300"/>
              </a:spcBef>
              <a:spcAft>
                <a:spcPts val="300"/>
              </a:spcAft>
              <a:buNone/>
            </a:pPr>
            <a:r>
              <a:rPr lang="en-US" sz="1320" i="1" dirty="0">
                <a:solidFill>
                  <a:srgbClr val="555555"/>
                </a:solidFill>
                <a:latin typeface="Arial" pitchFamily="34" charset="0"/>
                <a:ea typeface="Arial" pitchFamily="34" charset="-122"/>
                <a:cs typeface="Arial" pitchFamily="34" charset="-120"/>
              </a:rPr>
              <a:t>"We have a walking, talking, reference library on any subject. Egalitarian access to knowledge is at the highest level in the history of our species."</a:t>
            </a:r>
            <a:endParaRPr lang="en-US" sz="1320" dirty="0"/>
          </a:p>
        </p:txBody>
      </p:sp>
      <p:sp>
        <p:nvSpPr>
          <p:cNvPr id="7" name="Text 5"/>
          <p:cNvSpPr/>
          <p:nvPr/>
        </p:nvSpPr>
        <p:spPr>
          <a:xfrm>
            <a:off x="809625" y="2101453"/>
            <a:ext cx="7723823" cy="191988"/>
          </a:xfrm>
          <a:prstGeom prst="rect">
            <a:avLst/>
          </a:prstGeom>
          <a:noFill/>
          <a:ln/>
        </p:spPr>
        <p:txBody>
          <a:bodyPr wrap="square" lIns="0" tIns="0" rIns="0" bIns="0" rtlCol="0" anchor="t"/>
          <a:lstStyle/>
          <a:p>
            <a:pPr algn="l" indent="0" marL="0">
              <a:lnSpc>
                <a:spcPts val="1512"/>
              </a:lnSpc>
              <a:spcBef>
                <a:spcPts val="750"/>
              </a:spcBef>
              <a:spcAft>
                <a:spcPts val="300"/>
              </a:spcAft>
              <a:buNone/>
            </a:pPr>
            <a:r>
              <a:rPr lang="en-US" sz="1080" dirty="0">
                <a:solidFill>
                  <a:srgbClr val="737373"/>
                </a:solidFill>
                <a:latin typeface="Arial" pitchFamily="34" charset="0"/>
                <a:ea typeface="Arial" pitchFamily="34" charset="-122"/>
                <a:cs typeface="Arial" pitchFamily="34" charset="-120"/>
              </a:rPr>
              <a:t>— Michael Crow, ASU President</a:t>
            </a:r>
            <a:endParaRPr lang="en-US" sz="1080" dirty="0"/>
          </a:p>
        </p:txBody>
      </p:sp>
      <p:sp>
        <p:nvSpPr>
          <p:cNvPr id="8" name="Text 6"/>
          <p:cNvSpPr/>
          <p:nvPr/>
        </p:nvSpPr>
        <p:spPr>
          <a:xfrm>
            <a:off x="571500" y="2817316"/>
            <a:ext cx="8161020" cy="237679"/>
          </a:xfrm>
          <a:prstGeom prst="rect">
            <a:avLst/>
          </a:prstGeom>
          <a:noFill/>
          <a:ln/>
        </p:spPr>
        <p:txBody>
          <a:bodyPr wrap="square" lIns="0" tIns="0" rIns="0" bIns="0" rtlCol="0" anchor="t"/>
          <a:lstStyle/>
          <a:p>
            <a:pPr algn="l" indent="0" marL="0">
              <a:lnSpc>
                <a:spcPts val="1872"/>
              </a:lnSpc>
              <a:spcBef>
                <a:spcPts val="1125"/>
              </a:spcBef>
              <a:spcAft>
                <a:spcPts val="1125"/>
              </a:spcAft>
              <a:buNone/>
            </a:pPr>
            <a:r>
              <a:rPr lang="en-US" sz="1560" b="1" dirty="0">
                <a:solidFill>
                  <a:srgbClr val="1C4E80"/>
                </a:solidFill>
                <a:latin typeface="Arial" pitchFamily="34" charset="0"/>
                <a:ea typeface="Arial" pitchFamily="34" charset="-122"/>
                <a:cs typeface="Arial" pitchFamily="34" charset="-120"/>
              </a:rPr>
              <a:t>Breaking Down Barriers</a:t>
            </a:r>
            <a:endParaRPr lang="en-US" sz="1560" dirty="0"/>
          </a:p>
        </p:txBody>
      </p:sp>
      <p:sp>
        <p:nvSpPr>
          <p:cNvPr id="9" name="Text 7"/>
          <p:cNvSpPr/>
          <p:nvPr/>
        </p:nvSpPr>
        <p:spPr>
          <a:xfrm>
            <a:off x="571500" y="3350270"/>
            <a:ext cx="8001000" cy="1181100"/>
          </a:xfrm>
          <a:prstGeom prst="rect">
            <a:avLst/>
          </a:prstGeom>
          <a:noFill/>
          <a:ln/>
        </p:spPr>
        <p:txBody>
          <a:bodyPr wrap="square" lIns="76200" tIns="0" rIns="0" bIns="0" rtlCol="0" anchor="t"/>
          <a:lstStyle/>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24/7 availability:</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Learning resources accessible anytime, anywhere</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Cost reduction:</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Free or low-cost AI tutoring for all students</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Language barriers removed:</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Real-time translation support</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Bridging gaps:</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AI helps unqualified students become qualified</a:t>
            </a:r>
            <a:endParaRPr lang="en-US" sz="1350" dirty="0"/>
          </a:p>
        </p:txBody>
      </p:sp>
      <p:sp>
        <p:nvSpPr>
          <p:cNvPr id="10" name="Text 8"/>
          <p:cNvSpPr/>
          <p:nvPr/>
        </p:nvSpPr>
        <p:spPr>
          <a:xfrm>
            <a:off x="571500" y="4721870"/>
            <a:ext cx="8161020" cy="170557"/>
          </a:xfrm>
          <a:prstGeom prst="rect">
            <a:avLst/>
          </a:prstGeom>
          <a:noFill/>
          <a:ln/>
        </p:spPr>
        <p:txBody>
          <a:bodyPr wrap="square" lIns="0" tIns="0" rIns="0" bIns="0" rtlCol="0" anchor="t"/>
          <a:lstStyle/>
          <a:p>
            <a:pPr algn="l" indent="0" marL="0">
              <a:lnSpc>
                <a:spcPts val="1344"/>
              </a:lnSpc>
              <a:spcBef>
                <a:spcPts val="300"/>
              </a:spcBef>
              <a:spcAft>
                <a:spcPts val="300"/>
              </a:spcAft>
              <a:buNone/>
            </a:pPr>
            <a:r>
              <a:rPr lang="en-US" sz="960" dirty="0">
                <a:solidFill>
                  <a:srgbClr val="737373"/>
                </a:solidFill>
                <a:latin typeface="Arial" pitchFamily="34" charset="0"/>
                <a:ea typeface="Arial" pitchFamily="34" charset="-122"/>
                <a:cs typeface="Arial" pitchFamily="34" charset="-120"/>
              </a:rPr>
              <a:t>Sources: Crow Interview, 2025</a:t>
            </a:r>
            <a:endParaRPr lang="en-US" sz="9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971550"/>
            <a:ext cx="8001000" cy="0"/>
          </a:xfrm>
          <a:prstGeom prst="line">
            <a:avLst/>
          </a:prstGeom>
          <a:noFill/>
          <a:ln w="38100">
            <a:solidFill>
              <a:srgbClr val="5EA8A7"/>
            </a:solidFill>
            <a:prstDash val="solid"/>
          </a:ln>
        </p:spPr>
      </p:sp>
      <p:sp>
        <p:nvSpPr>
          <p:cNvPr id="3" name="Text 1"/>
          <p:cNvSpPr/>
          <p:nvPr/>
        </p:nvSpPr>
        <p:spPr>
          <a:xfrm>
            <a:off x="571500" y="476250"/>
            <a:ext cx="4090226" cy="476250"/>
          </a:xfrm>
          <a:prstGeom prst="rect">
            <a:avLst/>
          </a:prstGeom>
          <a:noFill/>
          <a:ln/>
        </p:spPr>
        <p:txBody>
          <a:bodyPr wrap="square" lIns="0" tIns="0" rIns="0" bIns="95250" rtlCol="0" anchor="t"/>
          <a:lstStyle/>
          <a:p>
            <a:pPr algn="l" indent="0" marL="0">
              <a:lnSpc>
                <a:spcPts val="3000"/>
              </a:lnSpc>
              <a:buNone/>
            </a:pPr>
            <a:r>
              <a:rPr lang="en-US" sz="2700" b="1" dirty="0">
                <a:solidFill>
                  <a:srgbClr val="1C4E80"/>
                </a:solidFill>
                <a:latin typeface="Arial" pitchFamily="34" charset="0"/>
                <a:ea typeface="Arial" pitchFamily="34" charset="-122"/>
                <a:cs typeface="Arial" pitchFamily="34" charset="-120"/>
              </a:rPr>
              <a:t>What AI Cannot Replace</a:t>
            </a:r>
            <a:endParaRPr lang="en-US" sz="2700" dirty="0"/>
          </a:p>
        </p:txBody>
      </p:sp>
      <p:sp>
        <p:nvSpPr>
          <p:cNvPr id="4" name="Text 2"/>
          <p:cNvSpPr/>
          <p:nvPr/>
        </p:nvSpPr>
        <p:spPr>
          <a:xfrm>
            <a:off x="571500" y="920651"/>
            <a:ext cx="3848100" cy="1942654"/>
          </a:xfrm>
          <a:prstGeom prst="roundRect">
            <a:avLst>
              <a:gd name="adj" fmla="val 3922"/>
            </a:avLst>
          </a:prstGeom>
          <a:solidFill>
            <a:srgbClr val="1C4E80"/>
          </a:solidFill>
          <a:ln/>
        </p:spPr>
        <p:txBody>
          <a:bodyPr wrap="square" rtlCol="0" anchor="ctr"/>
          <a:lstStyle/>
          <a:p>
            <a:pPr indent="0" marL="0">
              <a:buNone/>
            </a:pPr>
            <a:endParaRPr lang="en-US" dirty="0"/>
          </a:p>
        </p:txBody>
      </p:sp>
      <p:sp>
        <p:nvSpPr>
          <p:cNvPr id="5" name="Text 3"/>
          <p:cNvSpPr/>
          <p:nvPr/>
        </p:nvSpPr>
        <p:spPr>
          <a:xfrm>
            <a:off x="762000" y="1111151"/>
            <a:ext cx="3536442" cy="237679"/>
          </a:xfrm>
          <a:prstGeom prst="rect">
            <a:avLst/>
          </a:prstGeom>
          <a:noFill/>
          <a:ln/>
        </p:spPr>
        <p:txBody>
          <a:bodyPr wrap="square" lIns="0" tIns="0" rIns="0" bIns="0" rtlCol="0" anchor="t"/>
          <a:lstStyle/>
          <a:p>
            <a:pPr algn="l" indent="0" marL="0">
              <a:lnSpc>
                <a:spcPts val="1872"/>
              </a:lnSpc>
              <a:spcAft>
                <a:spcPts val="1125"/>
              </a:spcAft>
              <a:buNone/>
            </a:pPr>
            <a:r>
              <a:rPr lang="en-US" sz="1560" b="1" dirty="0">
                <a:solidFill>
                  <a:srgbClr val="FFFFFF"/>
                </a:solidFill>
                <a:latin typeface="Arial" pitchFamily="34" charset="0"/>
                <a:ea typeface="Arial" pitchFamily="34" charset="-122"/>
                <a:cs typeface="Arial" pitchFamily="34" charset="-120"/>
              </a:rPr>
              <a:t>Human Elements</a:t>
            </a:r>
            <a:endParaRPr lang="en-US" sz="1560" dirty="0"/>
          </a:p>
        </p:txBody>
      </p:sp>
      <p:sp>
        <p:nvSpPr>
          <p:cNvPr id="6" name="Text 4"/>
          <p:cNvSpPr/>
          <p:nvPr/>
        </p:nvSpPr>
        <p:spPr>
          <a:xfrm>
            <a:off x="762000" y="1491704"/>
            <a:ext cx="3467100" cy="1181100"/>
          </a:xfrm>
          <a:prstGeom prst="rect">
            <a:avLst/>
          </a:prstGeom>
          <a:noFill/>
          <a:ln/>
        </p:spPr>
        <p:txBody>
          <a:bodyPr wrap="square" lIns="72390" tIns="0" rIns="0" bIns="0" rtlCol="0" anchor="t"/>
          <a:lstStyle/>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Innovation and creativity</a:t>
            </a:r>
            <a:endParaRPr lang="en-US" sz="1350" dirty="0"/>
          </a:p>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Grit and perseverance</a:t>
            </a:r>
            <a:endParaRPr lang="en-US" sz="1350" dirty="0"/>
          </a:p>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Discovery process</a:t>
            </a:r>
            <a:endParaRPr lang="en-US" sz="1350" dirty="0"/>
          </a:p>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Values and ethics</a:t>
            </a:r>
            <a:endParaRPr lang="en-US" sz="1350" dirty="0"/>
          </a:p>
        </p:txBody>
      </p:sp>
      <p:sp>
        <p:nvSpPr>
          <p:cNvPr id="7" name="Text 5"/>
          <p:cNvSpPr/>
          <p:nvPr/>
        </p:nvSpPr>
        <p:spPr>
          <a:xfrm>
            <a:off x="4724400" y="920651"/>
            <a:ext cx="3848100" cy="1942654"/>
          </a:xfrm>
          <a:prstGeom prst="roundRect">
            <a:avLst>
              <a:gd name="adj" fmla="val 3922"/>
            </a:avLst>
          </a:prstGeom>
          <a:solidFill>
            <a:srgbClr val="5EA8A7"/>
          </a:solidFill>
          <a:ln/>
        </p:spPr>
        <p:txBody>
          <a:bodyPr wrap="square" rtlCol="0" anchor="ctr"/>
          <a:lstStyle/>
          <a:p>
            <a:pPr indent="0" marL="0">
              <a:buNone/>
            </a:pPr>
            <a:endParaRPr lang="en-US" dirty="0"/>
          </a:p>
        </p:txBody>
      </p:sp>
      <p:sp>
        <p:nvSpPr>
          <p:cNvPr id="8" name="Text 6"/>
          <p:cNvSpPr/>
          <p:nvPr/>
        </p:nvSpPr>
        <p:spPr>
          <a:xfrm>
            <a:off x="4914900" y="1111151"/>
            <a:ext cx="3536442" cy="237679"/>
          </a:xfrm>
          <a:prstGeom prst="rect">
            <a:avLst/>
          </a:prstGeom>
          <a:noFill/>
          <a:ln/>
        </p:spPr>
        <p:txBody>
          <a:bodyPr wrap="square" lIns="0" tIns="0" rIns="0" bIns="0" rtlCol="0" anchor="t"/>
          <a:lstStyle/>
          <a:p>
            <a:pPr algn="l" indent="0" marL="0">
              <a:lnSpc>
                <a:spcPts val="1872"/>
              </a:lnSpc>
              <a:spcAft>
                <a:spcPts val="1125"/>
              </a:spcAft>
              <a:buNone/>
            </a:pPr>
            <a:r>
              <a:rPr lang="en-US" sz="1560" b="1" dirty="0">
                <a:solidFill>
                  <a:srgbClr val="FFFFFF"/>
                </a:solidFill>
                <a:latin typeface="Arial" pitchFamily="34" charset="0"/>
                <a:ea typeface="Arial" pitchFamily="34" charset="-122"/>
                <a:cs typeface="Arial" pitchFamily="34" charset="-120"/>
              </a:rPr>
              <a:t>Lived Experience</a:t>
            </a:r>
            <a:endParaRPr lang="en-US" sz="1560" dirty="0"/>
          </a:p>
        </p:txBody>
      </p:sp>
      <p:sp>
        <p:nvSpPr>
          <p:cNvPr id="9" name="Text 7"/>
          <p:cNvSpPr/>
          <p:nvPr/>
        </p:nvSpPr>
        <p:spPr>
          <a:xfrm>
            <a:off x="4914900" y="1491704"/>
            <a:ext cx="3467100" cy="1181100"/>
          </a:xfrm>
          <a:prstGeom prst="rect">
            <a:avLst/>
          </a:prstGeom>
          <a:noFill/>
          <a:ln/>
        </p:spPr>
        <p:txBody>
          <a:bodyPr wrap="square" lIns="72390" tIns="0" rIns="0" bIns="0" rtlCol="0" anchor="t"/>
          <a:lstStyle/>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Interpersonal relationships</a:t>
            </a:r>
            <a:endParaRPr lang="en-US" sz="1350" dirty="0"/>
          </a:p>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Emotional intelligence</a:t>
            </a:r>
            <a:endParaRPr lang="en-US" sz="1350" dirty="0"/>
          </a:p>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Cultural understanding</a:t>
            </a:r>
            <a:endParaRPr lang="en-US" sz="1350" dirty="0"/>
          </a:p>
          <a:p>
            <a:pPr algn="l" marL="72390" indent="-72390">
              <a:lnSpc>
                <a:spcPts val="2100"/>
              </a:lnSpc>
              <a:buSzPct val="100000"/>
              <a:buChar char="•"/>
            </a:pPr>
            <a:r>
              <a:rPr lang="en-US" sz="1350" dirty="0">
                <a:solidFill>
                  <a:srgbClr val="FFFFFF"/>
                </a:solidFill>
                <a:latin typeface="Arial" pitchFamily="34" charset="0"/>
                <a:ea typeface="Arial" pitchFamily="34" charset="-122"/>
                <a:cs typeface="Arial" pitchFamily="34" charset="-120"/>
              </a:rPr>
              <a:t>Authentic collaboration</a:t>
            </a:r>
            <a:endParaRPr lang="en-US" sz="1350" dirty="0"/>
          </a:p>
        </p:txBody>
      </p:sp>
      <p:sp>
        <p:nvSpPr>
          <p:cNvPr id="10" name="Text 8"/>
          <p:cNvSpPr/>
          <p:nvPr/>
        </p:nvSpPr>
        <p:spPr>
          <a:xfrm>
            <a:off x="571500" y="3158579"/>
            <a:ext cx="8001000" cy="1141214"/>
          </a:xfrm>
          <a:prstGeom prst="roundRect">
            <a:avLst>
              <a:gd name="adj" fmla="val 4173"/>
            </a:avLst>
          </a:prstGeom>
          <a:solidFill>
            <a:srgbClr val="F8F9FA"/>
          </a:solidFill>
          <a:ln/>
        </p:spPr>
        <p:txBody>
          <a:bodyPr wrap="square" rtlCol="0" anchor="ctr"/>
          <a:lstStyle/>
          <a:p>
            <a:pPr indent="0" marL="0">
              <a:buNone/>
            </a:pPr>
            <a:endParaRPr lang="en-US" dirty="0"/>
          </a:p>
        </p:txBody>
      </p:sp>
      <p:sp>
        <p:nvSpPr>
          <p:cNvPr id="11" name="Shape 9"/>
          <p:cNvSpPr/>
          <p:nvPr/>
        </p:nvSpPr>
        <p:spPr>
          <a:xfrm>
            <a:off x="595313" y="3158579"/>
            <a:ext cx="0" cy="1141214"/>
          </a:xfrm>
          <a:prstGeom prst="line">
            <a:avLst/>
          </a:prstGeom>
          <a:noFill/>
          <a:ln w="47625">
            <a:solidFill>
              <a:srgbClr val="1C4E80"/>
            </a:solidFill>
            <a:prstDash val="solid"/>
          </a:ln>
        </p:spPr>
      </p:sp>
      <p:sp>
        <p:nvSpPr>
          <p:cNvPr id="12" name="Text 10"/>
          <p:cNvSpPr/>
          <p:nvPr/>
        </p:nvSpPr>
        <p:spPr>
          <a:xfrm>
            <a:off x="809625" y="3387179"/>
            <a:ext cx="7723823"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555555"/>
                </a:solidFill>
                <a:latin typeface="Arial" pitchFamily="34" charset="0"/>
                <a:ea typeface="Arial" pitchFamily="34" charset="-122"/>
                <a:cs typeface="Arial" pitchFamily="34" charset="-120"/>
              </a:rPr>
              <a:t>"It's a machine. It's an advanced hyperspeed calculator. It can do things you can't do, but it's a powerful analytical tool to enhance our mental capabilities, not to replace them."</a:t>
            </a:r>
            <a:endParaRPr lang="en-US" sz="1200" dirty="0"/>
          </a:p>
        </p:txBody>
      </p:sp>
      <p:sp>
        <p:nvSpPr>
          <p:cNvPr id="13" name="Text 11"/>
          <p:cNvSpPr/>
          <p:nvPr/>
        </p:nvSpPr>
        <p:spPr>
          <a:xfrm>
            <a:off x="809625" y="3889921"/>
            <a:ext cx="7723823" cy="181273"/>
          </a:xfrm>
          <a:prstGeom prst="rect">
            <a:avLst/>
          </a:prstGeom>
          <a:noFill/>
          <a:ln/>
        </p:spPr>
        <p:txBody>
          <a:bodyPr wrap="square" lIns="0" tIns="0" rIns="0" bIns="0" rtlCol="0" anchor="t"/>
          <a:lstStyle/>
          <a:p>
            <a:pPr algn="l" indent="0" marL="0">
              <a:lnSpc>
                <a:spcPts val="1428"/>
              </a:lnSpc>
              <a:spcBef>
                <a:spcPts val="600"/>
              </a:spcBef>
              <a:spcAft>
                <a:spcPts val="300"/>
              </a:spcAft>
              <a:buNone/>
            </a:pPr>
            <a:r>
              <a:rPr lang="en-US" sz="1020" dirty="0">
                <a:solidFill>
                  <a:srgbClr val="737373"/>
                </a:solidFill>
                <a:latin typeface="Arial" pitchFamily="34" charset="0"/>
                <a:ea typeface="Arial" pitchFamily="34" charset="-122"/>
                <a:cs typeface="Arial" pitchFamily="34" charset="-120"/>
              </a:rPr>
              <a:t>— Michael Crow, ASU President</a:t>
            </a:r>
            <a:endParaRPr lang="en-US" sz="1020" dirty="0"/>
          </a:p>
        </p:txBody>
      </p:sp>
      <p:sp>
        <p:nvSpPr>
          <p:cNvPr id="14" name="Text 12"/>
          <p:cNvSpPr/>
          <p:nvPr/>
        </p:nvSpPr>
        <p:spPr>
          <a:xfrm>
            <a:off x="571500" y="4547443"/>
            <a:ext cx="8161020" cy="181273"/>
          </a:xfrm>
          <a:prstGeom prst="rect">
            <a:avLst/>
          </a:prstGeom>
          <a:noFill/>
          <a:ln/>
        </p:spPr>
        <p:txBody>
          <a:bodyPr wrap="square" lIns="0" tIns="0" rIns="0" bIns="0" rtlCol="0" anchor="t"/>
          <a:lstStyle/>
          <a:p>
            <a:pPr algn="l" indent="0" marL="0">
              <a:lnSpc>
                <a:spcPts val="1428"/>
              </a:lnSpc>
              <a:spcBef>
                <a:spcPts val="750"/>
              </a:spcBef>
              <a:spcAft>
                <a:spcPts val="300"/>
              </a:spcAft>
              <a:buNone/>
            </a:pPr>
            <a:r>
              <a:rPr lang="en-US" sz="1020" dirty="0">
                <a:solidFill>
                  <a:srgbClr val="555555"/>
                </a:solidFill>
                <a:latin typeface="Arial" pitchFamily="34" charset="0"/>
                <a:ea typeface="Arial" pitchFamily="34" charset="-122"/>
                <a:cs typeface="Arial" pitchFamily="34" charset="-120"/>
              </a:rPr>
              <a:t>AI should be viewed as a springboard for learning, not a crutch that replaces human thinking and problem-solving.</a:t>
            </a:r>
            <a:endParaRPr lang="en-US" sz="1020" dirty="0"/>
          </a:p>
        </p:txBody>
      </p:sp>
      <p:sp>
        <p:nvSpPr>
          <p:cNvPr id="15" name="Text 13"/>
          <p:cNvSpPr/>
          <p:nvPr/>
        </p:nvSpPr>
        <p:spPr>
          <a:xfrm>
            <a:off x="571500" y="4919216"/>
            <a:ext cx="8161020" cy="170557"/>
          </a:xfrm>
          <a:prstGeom prst="rect">
            <a:avLst/>
          </a:prstGeom>
          <a:noFill/>
          <a:ln/>
        </p:spPr>
        <p:txBody>
          <a:bodyPr wrap="square" lIns="0" tIns="0" rIns="0" bIns="0" rtlCol="0" anchor="t"/>
          <a:lstStyle/>
          <a:p>
            <a:pPr algn="l" indent="0" marL="0">
              <a:lnSpc>
                <a:spcPts val="1344"/>
              </a:lnSpc>
              <a:spcAft>
                <a:spcPts val="300"/>
              </a:spcAft>
              <a:buNone/>
            </a:pPr>
            <a:r>
              <a:rPr lang="en-US" sz="960" dirty="0">
                <a:solidFill>
                  <a:srgbClr val="737373"/>
                </a:solidFill>
                <a:latin typeface="Arial" pitchFamily="34" charset="0"/>
                <a:ea typeface="Arial" pitchFamily="34" charset="-122"/>
                <a:cs typeface="Arial" pitchFamily="34" charset="-120"/>
              </a:rPr>
              <a:t>Source: Crow Interview, 2025</a:t>
            </a:r>
            <a:endParaRPr lang="en-US" sz="9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1257300"/>
            <a:ext cx="8001000" cy="0"/>
          </a:xfrm>
          <a:prstGeom prst="line">
            <a:avLst/>
          </a:prstGeom>
          <a:noFill/>
          <a:ln w="38100">
            <a:solidFill>
              <a:srgbClr val="5EA8A7"/>
            </a:solidFill>
            <a:prstDash val="solid"/>
          </a:ln>
        </p:spPr>
      </p:sp>
      <p:sp>
        <p:nvSpPr>
          <p:cNvPr id="3" name="Text 1"/>
          <p:cNvSpPr/>
          <p:nvPr/>
        </p:nvSpPr>
        <p:spPr>
          <a:xfrm>
            <a:off x="571500" y="381000"/>
            <a:ext cx="4439984" cy="857250"/>
          </a:xfrm>
          <a:prstGeom prst="rect">
            <a:avLst/>
          </a:prstGeom>
          <a:noFill/>
          <a:ln/>
        </p:spPr>
        <p:txBody>
          <a:bodyPr wrap="square" lIns="0" tIns="0" rIns="0" bIns="95250" rtlCol="0" anchor="t"/>
          <a:lstStyle/>
          <a:p>
            <a:pPr algn="l" indent="0" marL="0">
              <a:lnSpc>
                <a:spcPts val="3000"/>
              </a:lnSpc>
              <a:buNone/>
            </a:pPr>
            <a:r>
              <a:rPr lang="en-US" sz="2700" b="1" dirty="0">
                <a:solidFill>
                  <a:srgbClr val="1C4E80"/>
                </a:solidFill>
                <a:latin typeface="Arial" pitchFamily="34" charset="0"/>
                <a:ea typeface="Arial" pitchFamily="34" charset="-122"/>
                <a:cs typeface="Arial" pitchFamily="34" charset="-120"/>
              </a:rPr>
              <a:t>Preparing Master Learners for an AI-Driven Future</a:t>
            </a:r>
            <a:endParaRPr lang="en-US" sz="2700" dirty="0"/>
          </a:p>
        </p:txBody>
      </p:sp>
      <p:sp>
        <p:nvSpPr>
          <p:cNvPr id="4" name="Text 2"/>
          <p:cNvSpPr/>
          <p:nvPr/>
        </p:nvSpPr>
        <p:spPr>
          <a:xfrm>
            <a:off x="571500" y="1451223"/>
            <a:ext cx="8001000" cy="927943"/>
          </a:xfrm>
          <a:prstGeom prst="roundRect">
            <a:avLst>
              <a:gd name="adj" fmla="val 5132"/>
            </a:avLst>
          </a:prstGeom>
          <a:solidFill>
            <a:srgbClr val="F8F9FA"/>
          </a:solidFill>
          <a:ln/>
        </p:spPr>
        <p:txBody>
          <a:bodyPr wrap="square" rtlCol="0" anchor="ctr"/>
          <a:lstStyle/>
          <a:p>
            <a:pPr indent="0" marL="0">
              <a:buNone/>
            </a:pPr>
            <a:endParaRPr lang="en-US" dirty="0"/>
          </a:p>
        </p:txBody>
      </p:sp>
      <p:sp>
        <p:nvSpPr>
          <p:cNvPr id="5" name="Shape 3"/>
          <p:cNvSpPr/>
          <p:nvPr/>
        </p:nvSpPr>
        <p:spPr>
          <a:xfrm>
            <a:off x="595313" y="1451223"/>
            <a:ext cx="0" cy="927943"/>
          </a:xfrm>
          <a:prstGeom prst="line">
            <a:avLst/>
          </a:prstGeom>
          <a:noFill/>
          <a:ln w="47625">
            <a:solidFill>
              <a:srgbClr val="5EA8A7"/>
            </a:solidFill>
            <a:prstDash val="solid"/>
          </a:ln>
        </p:spPr>
      </p:sp>
      <p:sp>
        <p:nvSpPr>
          <p:cNvPr id="6" name="Text 4"/>
          <p:cNvSpPr/>
          <p:nvPr/>
        </p:nvSpPr>
        <p:spPr>
          <a:xfrm>
            <a:off x="809625" y="1679823"/>
            <a:ext cx="7723823"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555555"/>
                </a:solidFill>
                <a:latin typeface="Arial" pitchFamily="34" charset="0"/>
                <a:ea typeface="Arial" pitchFamily="34" charset="-122"/>
                <a:cs typeface="Arial" pitchFamily="34" charset="-120"/>
              </a:rPr>
              <a:t>"Can we help you to be a person capable of learning anything, adjusting to anything, adapting to anything?"</a:t>
            </a:r>
            <a:endParaRPr lang="en-US" sz="1200" dirty="0"/>
          </a:p>
        </p:txBody>
      </p:sp>
      <p:sp>
        <p:nvSpPr>
          <p:cNvPr id="7" name="Text 5"/>
          <p:cNvSpPr/>
          <p:nvPr/>
        </p:nvSpPr>
        <p:spPr>
          <a:xfrm>
            <a:off x="809625" y="1969294"/>
            <a:ext cx="7723823" cy="181273"/>
          </a:xfrm>
          <a:prstGeom prst="rect">
            <a:avLst/>
          </a:prstGeom>
          <a:noFill/>
          <a:ln/>
        </p:spPr>
        <p:txBody>
          <a:bodyPr wrap="square" lIns="0" tIns="0" rIns="0" bIns="0" rtlCol="0" anchor="t"/>
          <a:lstStyle/>
          <a:p>
            <a:pPr algn="l" indent="0" marL="0">
              <a:lnSpc>
                <a:spcPts val="1428"/>
              </a:lnSpc>
              <a:spcBef>
                <a:spcPts val="600"/>
              </a:spcBef>
              <a:spcAft>
                <a:spcPts val="300"/>
              </a:spcAft>
              <a:buNone/>
            </a:pPr>
            <a:r>
              <a:rPr lang="en-US" sz="1020" dirty="0">
                <a:solidFill>
                  <a:srgbClr val="737373"/>
                </a:solidFill>
                <a:latin typeface="Arial" pitchFamily="34" charset="0"/>
                <a:ea typeface="Arial" pitchFamily="34" charset="-122"/>
                <a:cs typeface="Arial" pitchFamily="34" charset="-120"/>
              </a:rPr>
              <a:t>— Michael Crow, ASU President</a:t>
            </a:r>
            <a:endParaRPr lang="en-US" sz="1020" dirty="0"/>
          </a:p>
        </p:txBody>
      </p:sp>
      <p:sp>
        <p:nvSpPr>
          <p:cNvPr id="8" name="Text 6"/>
          <p:cNvSpPr/>
          <p:nvPr/>
        </p:nvSpPr>
        <p:spPr>
          <a:xfrm>
            <a:off x="571500" y="2674441"/>
            <a:ext cx="8161020" cy="237679"/>
          </a:xfrm>
          <a:prstGeom prst="rect">
            <a:avLst/>
          </a:prstGeom>
          <a:noFill/>
          <a:ln/>
        </p:spPr>
        <p:txBody>
          <a:bodyPr wrap="square" lIns="0" tIns="0" rIns="0" bIns="0" rtlCol="0" anchor="t"/>
          <a:lstStyle/>
          <a:p>
            <a:pPr algn="l" indent="0" marL="0">
              <a:lnSpc>
                <a:spcPts val="1872"/>
              </a:lnSpc>
              <a:spcBef>
                <a:spcPts val="1125"/>
              </a:spcBef>
              <a:spcAft>
                <a:spcPts val="1125"/>
              </a:spcAft>
              <a:buNone/>
            </a:pPr>
            <a:r>
              <a:rPr lang="en-US" sz="1560" b="1" dirty="0">
                <a:solidFill>
                  <a:srgbClr val="1C4E80"/>
                </a:solidFill>
                <a:latin typeface="Arial" pitchFamily="34" charset="0"/>
                <a:ea typeface="Arial" pitchFamily="34" charset="-122"/>
                <a:cs typeface="Arial" pitchFamily="34" charset="-120"/>
              </a:rPr>
              <a:t>The Master Learner Approach</a:t>
            </a:r>
            <a:endParaRPr lang="en-US" sz="1560" dirty="0"/>
          </a:p>
        </p:txBody>
      </p:sp>
      <p:sp>
        <p:nvSpPr>
          <p:cNvPr id="9" name="Text 7"/>
          <p:cNvSpPr/>
          <p:nvPr/>
        </p:nvSpPr>
        <p:spPr>
          <a:xfrm>
            <a:off x="571500" y="3207395"/>
            <a:ext cx="8001000" cy="1181100"/>
          </a:xfrm>
          <a:prstGeom prst="rect">
            <a:avLst/>
          </a:prstGeom>
          <a:noFill/>
          <a:ln/>
        </p:spPr>
        <p:txBody>
          <a:bodyPr wrap="square" lIns="76200" tIns="0" rIns="0" bIns="0" rtlCol="0" anchor="t"/>
          <a:lstStyle/>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Learn to learn:</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Focus on meta-cognitive skills</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Questions over answers:</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Teaching how to ask better questions</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Flexibility:</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Support diverse and interdisciplinary study</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Adaptation:</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Prepare for lifelong learning</a:t>
            </a:r>
            <a:endParaRPr lang="en-US" sz="1350" dirty="0"/>
          </a:p>
        </p:txBody>
      </p:sp>
      <p:sp>
        <p:nvSpPr>
          <p:cNvPr id="10" name="Text 8"/>
          <p:cNvSpPr/>
          <p:nvPr/>
        </p:nvSpPr>
        <p:spPr>
          <a:xfrm>
            <a:off x="571500" y="4578995"/>
            <a:ext cx="8161020" cy="170557"/>
          </a:xfrm>
          <a:prstGeom prst="rect">
            <a:avLst/>
          </a:prstGeom>
          <a:noFill/>
          <a:ln/>
        </p:spPr>
        <p:txBody>
          <a:bodyPr wrap="square" lIns="0" tIns="0" rIns="0" bIns="0" rtlCol="0" anchor="t"/>
          <a:lstStyle/>
          <a:p>
            <a:pPr algn="l" indent="0" marL="0">
              <a:lnSpc>
                <a:spcPts val="1344"/>
              </a:lnSpc>
              <a:spcBef>
                <a:spcPts val="300"/>
              </a:spcBef>
              <a:spcAft>
                <a:spcPts val="300"/>
              </a:spcAft>
              <a:buNone/>
            </a:pPr>
            <a:r>
              <a:rPr lang="en-US" sz="960" dirty="0">
                <a:solidFill>
                  <a:srgbClr val="737373"/>
                </a:solidFill>
                <a:latin typeface="Arial" pitchFamily="34" charset="0"/>
                <a:ea typeface="Arial" pitchFamily="34" charset="-122"/>
                <a:cs typeface="Arial" pitchFamily="34" charset="-120"/>
              </a:rPr>
              <a:t>Source: Crow Interview, 2025</a:t>
            </a:r>
            <a:endParaRPr lang="en-US" sz="9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971550"/>
            <a:ext cx="8001000" cy="0"/>
          </a:xfrm>
          <a:prstGeom prst="line">
            <a:avLst/>
          </a:prstGeom>
          <a:noFill/>
          <a:ln w="38100">
            <a:solidFill>
              <a:srgbClr val="5EA8A7"/>
            </a:solidFill>
            <a:prstDash val="solid"/>
          </a:ln>
        </p:spPr>
      </p:sp>
      <p:sp>
        <p:nvSpPr>
          <p:cNvPr id="3" name="Text 1"/>
          <p:cNvSpPr/>
          <p:nvPr/>
        </p:nvSpPr>
        <p:spPr>
          <a:xfrm>
            <a:off x="571500" y="476250"/>
            <a:ext cx="6072188" cy="476250"/>
          </a:xfrm>
          <a:prstGeom prst="rect">
            <a:avLst/>
          </a:prstGeom>
          <a:noFill/>
          <a:ln/>
        </p:spPr>
        <p:txBody>
          <a:bodyPr wrap="square" lIns="0" tIns="0" rIns="0" bIns="95250" rtlCol="0" anchor="t"/>
          <a:lstStyle/>
          <a:p>
            <a:pPr algn="l" indent="0" marL="0">
              <a:lnSpc>
                <a:spcPts val="3000"/>
              </a:lnSpc>
              <a:buNone/>
            </a:pPr>
            <a:r>
              <a:rPr lang="en-US" sz="2700" b="1" dirty="0">
                <a:solidFill>
                  <a:srgbClr val="1C4E80"/>
                </a:solidFill>
                <a:latin typeface="Arial" pitchFamily="34" charset="0"/>
                <a:ea typeface="Arial" pitchFamily="34" charset="-122"/>
                <a:cs typeface="Arial" pitchFamily="34" charset="-120"/>
              </a:rPr>
              <a:t>Employment &amp; Market Reality Check</a:t>
            </a:r>
            <a:endParaRPr lang="en-US" sz="2700" dirty="0"/>
          </a:p>
        </p:txBody>
      </p:sp>
      <p:sp>
        <p:nvSpPr>
          <p:cNvPr id="4" name="Text 2"/>
          <p:cNvSpPr/>
          <p:nvPr/>
        </p:nvSpPr>
        <p:spPr>
          <a:xfrm>
            <a:off x="571500" y="889843"/>
            <a:ext cx="3848100" cy="1336179"/>
          </a:xfrm>
          <a:prstGeom prst="roundRect">
            <a:avLst>
              <a:gd name="adj" fmla="val 5703"/>
            </a:avLst>
          </a:prstGeom>
          <a:solidFill>
            <a:srgbClr val="2ECC71"/>
          </a:solidFill>
          <a:ln/>
        </p:spPr>
        <p:txBody>
          <a:bodyPr wrap="square" rtlCol="0" anchor="ctr"/>
          <a:lstStyle/>
          <a:p>
            <a:pPr indent="0" marL="0">
              <a:buNone/>
            </a:pPr>
            <a:endParaRPr lang="en-US" dirty="0"/>
          </a:p>
        </p:txBody>
      </p:sp>
      <p:sp>
        <p:nvSpPr>
          <p:cNvPr id="5" name="Text 3"/>
          <p:cNvSpPr/>
          <p:nvPr/>
        </p:nvSpPr>
        <p:spPr>
          <a:xfrm>
            <a:off x="775907" y="1166068"/>
            <a:ext cx="3439287" cy="533400"/>
          </a:xfrm>
          <a:prstGeom prst="rect">
            <a:avLst/>
          </a:prstGeom>
          <a:noFill/>
          <a:ln/>
        </p:spPr>
        <p:txBody>
          <a:bodyPr wrap="square" lIns="0" tIns="0" rIns="0" bIns="0" rtlCol="0" anchor="t"/>
          <a:lstStyle/>
          <a:p>
            <a:pPr algn="ctr" indent="0" marL="0">
              <a:lnSpc>
                <a:spcPts val="4200"/>
              </a:lnSpc>
              <a:spcBef>
                <a:spcPts val="300"/>
              </a:spcBef>
              <a:spcAft>
                <a:spcPts val="375"/>
              </a:spcAft>
              <a:buNone/>
            </a:pPr>
            <a:r>
              <a:rPr lang="en-US" sz="3000" b="1" dirty="0">
                <a:solidFill>
                  <a:srgbClr val="FFFFFF"/>
                </a:solidFill>
                <a:latin typeface="Arial" pitchFamily="34" charset="0"/>
                <a:ea typeface="Arial" pitchFamily="34" charset="-122"/>
                <a:cs typeface="Arial" pitchFamily="34" charset="-120"/>
              </a:rPr>
              <a:t>95%+</a:t>
            </a:r>
            <a:endParaRPr lang="en-US" sz="3000" dirty="0"/>
          </a:p>
        </p:txBody>
      </p:sp>
      <p:sp>
        <p:nvSpPr>
          <p:cNvPr id="6" name="Text 4"/>
          <p:cNvSpPr/>
          <p:nvPr/>
        </p:nvSpPr>
        <p:spPr>
          <a:xfrm>
            <a:off x="775907" y="1747093"/>
            <a:ext cx="3439287" cy="202704"/>
          </a:xfrm>
          <a:prstGeom prst="rect">
            <a:avLst/>
          </a:prstGeom>
          <a:noFill/>
          <a:ln/>
        </p:spPr>
        <p:txBody>
          <a:bodyPr wrap="square" lIns="0" tIns="0" rIns="0" bIns="0" rtlCol="0" anchor="t"/>
          <a:lstStyle/>
          <a:p>
            <a:pPr algn="ctr" indent="0" marL="0">
              <a:lnSpc>
                <a:spcPts val="1596"/>
              </a:lnSpc>
              <a:spcBef>
                <a:spcPts val="300"/>
              </a:spcBef>
              <a:spcAft>
                <a:spcPts val="300"/>
              </a:spcAft>
              <a:buNone/>
            </a:pPr>
            <a:r>
              <a:rPr lang="en-US" sz="1140" dirty="0">
                <a:solidFill>
                  <a:srgbClr val="FFFFFF"/>
                </a:solidFill>
                <a:latin typeface="Arial" pitchFamily="34" charset="0"/>
                <a:ea typeface="Arial" pitchFamily="34" charset="-122"/>
                <a:cs typeface="Arial" pitchFamily="34" charset="-120"/>
              </a:rPr>
              <a:t>ASU graduates employed within first year</a:t>
            </a:r>
            <a:endParaRPr lang="en-US" sz="1140" dirty="0"/>
          </a:p>
        </p:txBody>
      </p:sp>
      <p:sp>
        <p:nvSpPr>
          <p:cNvPr id="7" name="Text 5"/>
          <p:cNvSpPr/>
          <p:nvPr/>
        </p:nvSpPr>
        <p:spPr>
          <a:xfrm>
            <a:off x="4724400" y="889843"/>
            <a:ext cx="3848100" cy="1336179"/>
          </a:xfrm>
          <a:prstGeom prst="roundRect">
            <a:avLst>
              <a:gd name="adj" fmla="val 5703"/>
            </a:avLst>
          </a:prstGeom>
          <a:solidFill>
            <a:srgbClr val="1C4E80"/>
          </a:solidFill>
          <a:ln/>
        </p:spPr>
        <p:txBody>
          <a:bodyPr wrap="square" rtlCol="0" anchor="ctr"/>
          <a:lstStyle/>
          <a:p>
            <a:pPr indent="0" marL="0">
              <a:buNone/>
            </a:pPr>
            <a:endParaRPr lang="en-US" dirty="0"/>
          </a:p>
        </p:txBody>
      </p:sp>
      <p:sp>
        <p:nvSpPr>
          <p:cNvPr id="8" name="Text 6"/>
          <p:cNvSpPr/>
          <p:nvPr/>
        </p:nvSpPr>
        <p:spPr>
          <a:xfrm>
            <a:off x="4928807" y="1166068"/>
            <a:ext cx="3439287" cy="533400"/>
          </a:xfrm>
          <a:prstGeom prst="rect">
            <a:avLst/>
          </a:prstGeom>
          <a:noFill/>
          <a:ln/>
        </p:spPr>
        <p:txBody>
          <a:bodyPr wrap="square" lIns="0" tIns="0" rIns="0" bIns="0" rtlCol="0" anchor="t"/>
          <a:lstStyle/>
          <a:p>
            <a:pPr algn="ctr" indent="0" marL="0">
              <a:lnSpc>
                <a:spcPts val="4200"/>
              </a:lnSpc>
              <a:spcBef>
                <a:spcPts val="300"/>
              </a:spcBef>
              <a:spcAft>
                <a:spcPts val="375"/>
              </a:spcAft>
              <a:buNone/>
            </a:pPr>
            <a:r>
              <a:rPr lang="en-US" sz="3000" b="1" dirty="0">
                <a:solidFill>
                  <a:srgbClr val="FFFFFF"/>
                </a:solidFill>
                <a:latin typeface="Arial" pitchFamily="34" charset="0"/>
                <a:ea typeface="Arial" pitchFamily="34" charset="-122"/>
                <a:cs typeface="Arial" pitchFamily="34" charset="-120"/>
              </a:rPr>
              <a:t>98%+</a:t>
            </a:r>
            <a:endParaRPr lang="en-US" sz="3000" dirty="0"/>
          </a:p>
        </p:txBody>
      </p:sp>
      <p:sp>
        <p:nvSpPr>
          <p:cNvPr id="9" name="Text 7"/>
          <p:cNvSpPr/>
          <p:nvPr/>
        </p:nvSpPr>
        <p:spPr>
          <a:xfrm>
            <a:off x="4928807" y="1747093"/>
            <a:ext cx="3439287" cy="202704"/>
          </a:xfrm>
          <a:prstGeom prst="rect">
            <a:avLst/>
          </a:prstGeom>
          <a:noFill/>
          <a:ln/>
        </p:spPr>
        <p:txBody>
          <a:bodyPr wrap="square" lIns="0" tIns="0" rIns="0" bIns="0" rtlCol="0" anchor="t"/>
          <a:lstStyle/>
          <a:p>
            <a:pPr algn="ctr" indent="0" marL="0">
              <a:lnSpc>
                <a:spcPts val="1596"/>
              </a:lnSpc>
              <a:spcBef>
                <a:spcPts val="300"/>
              </a:spcBef>
              <a:spcAft>
                <a:spcPts val="300"/>
              </a:spcAft>
              <a:buNone/>
            </a:pPr>
            <a:r>
              <a:rPr lang="en-US" sz="1140" dirty="0">
                <a:solidFill>
                  <a:srgbClr val="FFFFFF"/>
                </a:solidFill>
                <a:latin typeface="Arial" pitchFamily="34" charset="0"/>
                <a:ea typeface="Arial" pitchFamily="34" charset="-122"/>
                <a:cs typeface="Arial" pitchFamily="34" charset="-120"/>
              </a:rPr>
              <a:t>Employed within second year</a:t>
            </a:r>
            <a:endParaRPr lang="en-US" sz="1140" dirty="0"/>
          </a:p>
        </p:txBody>
      </p:sp>
      <p:sp>
        <p:nvSpPr>
          <p:cNvPr id="10" name="Text 8"/>
          <p:cNvSpPr/>
          <p:nvPr/>
        </p:nvSpPr>
        <p:spPr>
          <a:xfrm>
            <a:off x="571500" y="2568922"/>
            <a:ext cx="8161020" cy="237679"/>
          </a:xfrm>
          <a:prstGeom prst="rect">
            <a:avLst/>
          </a:prstGeom>
          <a:noFill/>
          <a:ln/>
        </p:spPr>
        <p:txBody>
          <a:bodyPr wrap="square" lIns="0" tIns="0" rIns="0" bIns="0" rtlCol="0" anchor="t"/>
          <a:lstStyle/>
          <a:p>
            <a:pPr algn="l" indent="0" marL="0">
              <a:lnSpc>
                <a:spcPts val="1872"/>
              </a:lnSpc>
              <a:spcAft>
                <a:spcPts val="1125"/>
              </a:spcAft>
              <a:buNone/>
            </a:pPr>
            <a:r>
              <a:rPr lang="en-US" sz="1560" b="1" dirty="0">
                <a:solidFill>
                  <a:srgbClr val="1C4E80"/>
                </a:solidFill>
                <a:latin typeface="Arial" pitchFamily="34" charset="0"/>
                <a:ea typeface="Arial" pitchFamily="34" charset="-122"/>
                <a:cs typeface="Arial" pitchFamily="34" charset="-120"/>
              </a:rPr>
              <a:t>Market Adaptations</a:t>
            </a:r>
            <a:endParaRPr lang="en-US" sz="1560" dirty="0"/>
          </a:p>
        </p:txBody>
      </p:sp>
      <p:sp>
        <p:nvSpPr>
          <p:cNvPr id="11" name="Text 9"/>
          <p:cNvSpPr/>
          <p:nvPr/>
        </p:nvSpPr>
        <p:spPr>
          <a:xfrm>
            <a:off x="571500" y="3101876"/>
            <a:ext cx="8001000" cy="1181100"/>
          </a:xfrm>
          <a:prstGeom prst="rect">
            <a:avLst/>
          </a:prstGeom>
          <a:noFill/>
          <a:ln/>
        </p:spPr>
        <p:txBody>
          <a:bodyPr wrap="square" lIns="76200" tIns="0" rIns="0" bIns="0" rtlCol="0" anchor="t"/>
          <a:lstStyle/>
          <a:p>
            <a:pPr algn="l" marL="76200" indent="-76200">
              <a:lnSpc>
                <a:spcPts val="2100"/>
              </a:lnSpc>
              <a:buSzPct val="100000"/>
              <a:buChar char="•"/>
            </a:pPr>
            <a:r>
              <a:rPr lang="en-US" sz="1350" dirty="0">
                <a:solidFill>
                  <a:srgbClr val="1D1D1D"/>
                </a:solidFill>
                <a:latin typeface="Arial" pitchFamily="34" charset="0"/>
                <a:ea typeface="Arial" pitchFamily="34" charset="-122"/>
                <a:cs typeface="Arial" pitchFamily="34" charset="-120"/>
              </a:rPr>
              <a:t>Slight downward trend in pure computer science enrollment</a:t>
            </a:r>
            <a:endParaRPr lang="en-US" sz="1350" dirty="0"/>
          </a:p>
          <a:p>
            <a:pPr algn="l" marL="76200" indent="-76200">
              <a:lnSpc>
                <a:spcPts val="2100"/>
              </a:lnSpc>
              <a:buSzPct val="100000"/>
              <a:buChar char="•"/>
            </a:pPr>
            <a:r>
              <a:rPr lang="en-US" sz="1350" dirty="0">
                <a:solidFill>
                  <a:srgbClr val="1D1D1D"/>
                </a:solidFill>
                <a:latin typeface="Arial" pitchFamily="34" charset="0"/>
                <a:ea typeface="Arial" pitchFamily="34" charset="-122"/>
                <a:cs typeface="Arial" pitchFamily="34" charset="-120"/>
              </a:rPr>
              <a:t>Increase in double and triple majoring for versatility</a:t>
            </a:r>
            <a:endParaRPr lang="en-US" sz="1350" dirty="0"/>
          </a:p>
          <a:p>
            <a:pPr algn="l" marL="76200" indent="-76200">
              <a:lnSpc>
                <a:spcPts val="2100"/>
              </a:lnSpc>
              <a:buSzPct val="100000"/>
              <a:buChar char="•"/>
            </a:pPr>
            <a:r>
              <a:rPr lang="en-US" sz="1350" dirty="0">
                <a:solidFill>
                  <a:srgbClr val="1D1D1D"/>
                </a:solidFill>
                <a:latin typeface="Arial" pitchFamily="34" charset="0"/>
                <a:ea typeface="Arial" pitchFamily="34" charset="-122"/>
                <a:cs typeface="Arial" pitchFamily="34" charset="-120"/>
              </a:rPr>
              <a:t>Growing demand for analytics, supply chain, and AI-adjacent roles</a:t>
            </a:r>
            <a:endParaRPr lang="en-US" sz="1350" dirty="0"/>
          </a:p>
          <a:p>
            <a:pPr algn="l" marL="76200" indent="-7620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High value:</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English majors who can code, combining communication with technical skills</a:t>
            </a:r>
            <a:endParaRPr lang="en-US" sz="1350" dirty="0"/>
          </a:p>
        </p:txBody>
      </p:sp>
      <p:sp>
        <p:nvSpPr>
          <p:cNvPr id="12" name="Text 10"/>
          <p:cNvSpPr/>
          <p:nvPr/>
        </p:nvSpPr>
        <p:spPr>
          <a:xfrm>
            <a:off x="571500" y="4578251"/>
            <a:ext cx="8161020" cy="181273"/>
          </a:xfrm>
          <a:prstGeom prst="rect">
            <a:avLst/>
          </a:prstGeom>
          <a:noFill/>
          <a:ln/>
        </p:spPr>
        <p:txBody>
          <a:bodyPr wrap="square" lIns="0" tIns="0" rIns="0" bIns="0" rtlCol="0" anchor="t"/>
          <a:lstStyle/>
          <a:p>
            <a:pPr algn="l" indent="0" marL="0">
              <a:lnSpc>
                <a:spcPts val="1428"/>
              </a:lnSpc>
              <a:spcBef>
                <a:spcPts val="1125"/>
              </a:spcBef>
              <a:spcAft>
                <a:spcPts val="300"/>
              </a:spcAft>
              <a:buNone/>
            </a:pPr>
            <a:r>
              <a:rPr lang="en-US" sz="1020" dirty="0">
                <a:solidFill>
                  <a:srgbClr val="555555"/>
                </a:solidFill>
                <a:latin typeface="Arial" pitchFamily="34" charset="0"/>
                <a:ea typeface="Arial" pitchFamily="34" charset="-122"/>
                <a:cs typeface="Arial" pitchFamily="34" charset="-120"/>
              </a:rPr>
              <a:t>Students are adapting faster than institutions, showing market savviness in their educational choices.</a:t>
            </a:r>
            <a:endParaRPr lang="en-US" sz="1020" dirty="0"/>
          </a:p>
        </p:txBody>
      </p:sp>
      <p:sp>
        <p:nvSpPr>
          <p:cNvPr id="13" name="Text 11"/>
          <p:cNvSpPr/>
          <p:nvPr/>
        </p:nvSpPr>
        <p:spPr>
          <a:xfrm>
            <a:off x="571500" y="4950023"/>
            <a:ext cx="8161020" cy="170557"/>
          </a:xfrm>
          <a:prstGeom prst="rect">
            <a:avLst/>
          </a:prstGeom>
          <a:noFill/>
          <a:ln/>
        </p:spPr>
        <p:txBody>
          <a:bodyPr wrap="square" lIns="0" tIns="0" rIns="0" bIns="0" rtlCol="0" anchor="t"/>
          <a:lstStyle/>
          <a:p>
            <a:pPr algn="l" indent="0" marL="0">
              <a:lnSpc>
                <a:spcPts val="1344"/>
              </a:lnSpc>
              <a:spcAft>
                <a:spcPts val="300"/>
              </a:spcAft>
              <a:buNone/>
            </a:pPr>
            <a:r>
              <a:rPr lang="en-US" sz="960" dirty="0">
                <a:solidFill>
                  <a:srgbClr val="737373"/>
                </a:solidFill>
                <a:latin typeface="Arial" pitchFamily="34" charset="0"/>
                <a:ea typeface="Arial" pitchFamily="34" charset="-122"/>
                <a:cs typeface="Arial" pitchFamily="34" charset="-120"/>
              </a:rPr>
              <a:t>Source: Crow Interview, 2025; ASU Employment Data</a:t>
            </a:r>
            <a:endParaRPr lang="en-US" sz="9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876300"/>
            <a:ext cx="8001000" cy="0"/>
          </a:xfrm>
          <a:prstGeom prst="line">
            <a:avLst/>
          </a:prstGeom>
          <a:noFill/>
          <a:ln w="38100">
            <a:solidFill>
              <a:srgbClr val="5EA8A7"/>
            </a:solidFill>
            <a:prstDash val="solid"/>
          </a:ln>
        </p:spPr>
      </p:sp>
      <p:sp>
        <p:nvSpPr>
          <p:cNvPr id="3" name="Text 1"/>
          <p:cNvSpPr/>
          <p:nvPr/>
        </p:nvSpPr>
        <p:spPr>
          <a:xfrm>
            <a:off x="571500" y="381000"/>
            <a:ext cx="5547551" cy="476250"/>
          </a:xfrm>
          <a:prstGeom prst="rect">
            <a:avLst/>
          </a:prstGeom>
          <a:noFill/>
          <a:ln/>
        </p:spPr>
        <p:txBody>
          <a:bodyPr wrap="square" lIns="0" tIns="0" rIns="0" bIns="95250" rtlCol="0" anchor="t"/>
          <a:lstStyle/>
          <a:p>
            <a:pPr algn="l" indent="0" marL="0">
              <a:lnSpc>
                <a:spcPts val="3000"/>
              </a:lnSpc>
              <a:buNone/>
            </a:pPr>
            <a:r>
              <a:rPr lang="en-US" sz="2700" b="1" dirty="0">
                <a:solidFill>
                  <a:srgbClr val="1C4E80"/>
                </a:solidFill>
                <a:latin typeface="Arial" pitchFamily="34" charset="0"/>
                <a:ea typeface="Arial" pitchFamily="34" charset="-122"/>
                <a:cs typeface="Arial" pitchFamily="34" charset="-120"/>
              </a:rPr>
              <a:t>Institutional Response Strategies</a:t>
            </a:r>
            <a:endParaRPr lang="en-US" sz="2700" dirty="0"/>
          </a:p>
        </p:txBody>
      </p:sp>
      <p:sp>
        <p:nvSpPr>
          <p:cNvPr id="4" name="Text 2"/>
          <p:cNvSpPr/>
          <p:nvPr/>
        </p:nvSpPr>
        <p:spPr>
          <a:xfrm>
            <a:off x="571500" y="1252686"/>
            <a:ext cx="2565350" cy="1248073"/>
          </a:xfrm>
          <a:prstGeom prst="roundRect">
            <a:avLst>
              <a:gd name="adj" fmla="val 6105"/>
            </a:avLst>
          </a:prstGeom>
          <a:solidFill>
            <a:srgbClr val="1C4E80"/>
          </a:solidFill>
          <a:ln/>
        </p:spPr>
        <p:txBody>
          <a:bodyPr wrap="square" rtlCol="0" anchor="ctr"/>
          <a:lstStyle/>
          <a:p>
            <a:pPr indent="0" marL="0">
              <a:buNone/>
            </a:pPr>
            <a:endParaRPr lang="en-US" dirty="0"/>
          </a:p>
        </p:txBody>
      </p:sp>
      <p:sp>
        <p:nvSpPr>
          <p:cNvPr id="5" name="Text 3"/>
          <p:cNvSpPr/>
          <p:nvPr/>
        </p:nvSpPr>
        <p:spPr>
          <a:xfrm>
            <a:off x="742950" y="1424136"/>
            <a:ext cx="2266899" cy="219373"/>
          </a:xfrm>
          <a:prstGeom prst="rect">
            <a:avLst/>
          </a:prstGeom>
          <a:noFill/>
          <a:ln/>
        </p:spPr>
        <p:txBody>
          <a:bodyPr wrap="square" lIns="0" tIns="0" rIns="0" bIns="0" rtlCol="0" anchor="t"/>
          <a:lstStyle/>
          <a:p>
            <a:pPr algn="l" indent="0" marL="0">
              <a:lnSpc>
                <a:spcPts val="1728"/>
              </a:lnSpc>
              <a:spcAft>
                <a:spcPts val="900"/>
              </a:spcAft>
              <a:buNone/>
            </a:pPr>
            <a:r>
              <a:rPr lang="en-US" sz="1440" b="1" dirty="0">
                <a:solidFill>
                  <a:srgbClr val="FFFFFF"/>
                </a:solidFill>
                <a:latin typeface="Arial" pitchFamily="34" charset="0"/>
                <a:ea typeface="Arial" pitchFamily="34" charset="-122"/>
                <a:cs typeface="Arial" pitchFamily="34" charset="-120"/>
              </a:rPr>
              <a:t>Policy Development</a:t>
            </a:r>
            <a:endParaRPr lang="en-US" sz="1440" dirty="0"/>
          </a:p>
        </p:txBody>
      </p:sp>
      <p:sp>
        <p:nvSpPr>
          <p:cNvPr id="6" name="Text 4"/>
          <p:cNvSpPr/>
          <p:nvPr/>
        </p:nvSpPr>
        <p:spPr>
          <a:xfrm>
            <a:off x="742950" y="1757809"/>
            <a:ext cx="2222450" cy="571500"/>
          </a:xfrm>
          <a:prstGeom prst="rect">
            <a:avLst/>
          </a:prstGeom>
          <a:noFill/>
          <a:ln/>
        </p:spPr>
        <p:txBody>
          <a:bodyPr wrap="square" lIns="68580" tIns="0" rIns="0" bIns="0" rtlCol="0" anchor="t"/>
          <a:lstStyle/>
          <a:p>
            <a:pPr algn="l" marL="68580" indent="-68580">
              <a:lnSpc>
                <a:spcPts val="2100"/>
              </a:lnSpc>
              <a:buSzPct val="100000"/>
              <a:buChar char="•"/>
            </a:pPr>
            <a:r>
              <a:rPr lang="en-US" sz="1350" dirty="0">
                <a:solidFill>
                  <a:srgbClr val="FFFFFF"/>
                </a:solidFill>
                <a:latin typeface="Arial" pitchFamily="34" charset="0"/>
                <a:ea typeface="Arial" pitchFamily="34" charset="-122"/>
                <a:cs typeface="Arial" pitchFamily="34" charset="-120"/>
              </a:rPr>
              <a:t>Clear AI usage guidelines</a:t>
            </a:r>
            <a:endParaRPr lang="en-US" sz="1350" dirty="0"/>
          </a:p>
          <a:p>
            <a:pPr algn="l" marL="68580" indent="-68580">
              <a:lnSpc>
                <a:spcPts val="2100"/>
              </a:lnSpc>
              <a:buSzPct val="100000"/>
              <a:buChar char="•"/>
            </a:pPr>
            <a:r>
              <a:rPr lang="en-US" sz="1350" dirty="0">
                <a:solidFill>
                  <a:srgbClr val="FFFFFF"/>
                </a:solidFill>
                <a:latin typeface="Arial" pitchFamily="34" charset="0"/>
                <a:ea typeface="Arial" pitchFamily="34" charset="-122"/>
                <a:cs typeface="Arial" pitchFamily="34" charset="-120"/>
              </a:rPr>
              <a:t>Transparent policies</a:t>
            </a:r>
            <a:endParaRPr lang="en-US" sz="1350" dirty="0"/>
          </a:p>
        </p:txBody>
      </p:sp>
      <p:sp>
        <p:nvSpPr>
          <p:cNvPr id="7" name="Text 5"/>
          <p:cNvSpPr/>
          <p:nvPr/>
        </p:nvSpPr>
        <p:spPr>
          <a:xfrm>
            <a:off x="3289250" y="1252686"/>
            <a:ext cx="2565350" cy="1248073"/>
          </a:xfrm>
          <a:prstGeom prst="roundRect">
            <a:avLst>
              <a:gd name="adj" fmla="val 6105"/>
            </a:avLst>
          </a:prstGeom>
          <a:solidFill>
            <a:srgbClr val="5EA8A7"/>
          </a:solidFill>
          <a:ln/>
        </p:spPr>
        <p:txBody>
          <a:bodyPr wrap="square" rtlCol="0" anchor="ctr"/>
          <a:lstStyle/>
          <a:p>
            <a:pPr indent="0" marL="0">
              <a:buNone/>
            </a:pPr>
            <a:endParaRPr lang="en-US" dirty="0"/>
          </a:p>
        </p:txBody>
      </p:sp>
      <p:sp>
        <p:nvSpPr>
          <p:cNvPr id="8" name="Text 6"/>
          <p:cNvSpPr/>
          <p:nvPr/>
        </p:nvSpPr>
        <p:spPr>
          <a:xfrm>
            <a:off x="3460700" y="1424136"/>
            <a:ext cx="2266899" cy="219373"/>
          </a:xfrm>
          <a:prstGeom prst="rect">
            <a:avLst/>
          </a:prstGeom>
          <a:noFill/>
          <a:ln/>
        </p:spPr>
        <p:txBody>
          <a:bodyPr wrap="square" lIns="0" tIns="0" rIns="0" bIns="0" rtlCol="0" anchor="t"/>
          <a:lstStyle/>
          <a:p>
            <a:pPr algn="l" indent="0" marL="0">
              <a:lnSpc>
                <a:spcPts val="1728"/>
              </a:lnSpc>
              <a:spcAft>
                <a:spcPts val="900"/>
              </a:spcAft>
              <a:buNone/>
            </a:pPr>
            <a:r>
              <a:rPr lang="en-US" sz="1440" b="1" dirty="0">
                <a:solidFill>
                  <a:srgbClr val="FFFFFF"/>
                </a:solidFill>
                <a:latin typeface="Arial" pitchFamily="34" charset="0"/>
                <a:ea typeface="Arial" pitchFamily="34" charset="-122"/>
                <a:cs typeface="Arial" pitchFamily="34" charset="-120"/>
              </a:rPr>
              <a:t>Assessment Reform</a:t>
            </a:r>
            <a:endParaRPr lang="en-US" sz="1440" dirty="0"/>
          </a:p>
        </p:txBody>
      </p:sp>
      <p:sp>
        <p:nvSpPr>
          <p:cNvPr id="9" name="Text 7"/>
          <p:cNvSpPr/>
          <p:nvPr/>
        </p:nvSpPr>
        <p:spPr>
          <a:xfrm>
            <a:off x="3460700" y="1757809"/>
            <a:ext cx="2222450" cy="571500"/>
          </a:xfrm>
          <a:prstGeom prst="rect">
            <a:avLst/>
          </a:prstGeom>
          <a:noFill/>
          <a:ln/>
        </p:spPr>
        <p:txBody>
          <a:bodyPr wrap="square" lIns="68580" tIns="0" rIns="0" bIns="0" rtlCol="0" anchor="t"/>
          <a:lstStyle/>
          <a:p>
            <a:pPr algn="l" marL="68580" indent="-68580">
              <a:lnSpc>
                <a:spcPts val="2100"/>
              </a:lnSpc>
              <a:buSzPct val="100000"/>
              <a:buChar char="•"/>
            </a:pPr>
            <a:r>
              <a:rPr lang="en-US" sz="1350" dirty="0">
                <a:solidFill>
                  <a:srgbClr val="FFFFFF"/>
                </a:solidFill>
                <a:latin typeface="Arial" pitchFamily="34" charset="0"/>
                <a:ea typeface="Arial" pitchFamily="34" charset="-122"/>
                <a:cs typeface="Arial" pitchFamily="34" charset="-120"/>
              </a:rPr>
              <a:t>Holistic evaluation</a:t>
            </a:r>
            <a:endParaRPr lang="en-US" sz="1350" dirty="0"/>
          </a:p>
          <a:p>
            <a:pPr algn="l" marL="68580" indent="-68580">
              <a:lnSpc>
                <a:spcPts val="2100"/>
              </a:lnSpc>
              <a:buSzPct val="100000"/>
              <a:buChar char="•"/>
            </a:pPr>
            <a:r>
              <a:rPr lang="en-US" sz="1350" dirty="0">
                <a:solidFill>
                  <a:srgbClr val="FFFFFF"/>
                </a:solidFill>
                <a:latin typeface="Arial" pitchFamily="34" charset="0"/>
                <a:ea typeface="Arial" pitchFamily="34" charset="-122"/>
                <a:cs typeface="Arial" pitchFamily="34" charset="-120"/>
              </a:rPr>
              <a:t>Project-based learning</a:t>
            </a:r>
            <a:endParaRPr lang="en-US" sz="1350" dirty="0"/>
          </a:p>
        </p:txBody>
      </p:sp>
      <p:sp>
        <p:nvSpPr>
          <p:cNvPr id="10" name="Text 8"/>
          <p:cNvSpPr/>
          <p:nvPr/>
        </p:nvSpPr>
        <p:spPr>
          <a:xfrm>
            <a:off x="6007001" y="1252686"/>
            <a:ext cx="2565350" cy="1248073"/>
          </a:xfrm>
          <a:prstGeom prst="roundRect">
            <a:avLst>
              <a:gd name="adj" fmla="val 6105"/>
            </a:avLst>
          </a:prstGeom>
          <a:solidFill>
            <a:srgbClr val="1C4E80"/>
          </a:solidFill>
          <a:ln/>
        </p:spPr>
        <p:txBody>
          <a:bodyPr wrap="square" rtlCol="0" anchor="ctr"/>
          <a:lstStyle/>
          <a:p>
            <a:pPr indent="0" marL="0">
              <a:buNone/>
            </a:pPr>
            <a:endParaRPr lang="en-US" dirty="0"/>
          </a:p>
        </p:txBody>
      </p:sp>
      <p:sp>
        <p:nvSpPr>
          <p:cNvPr id="11" name="Text 9"/>
          <p:cNvSpPr/>
          <p:nvPr/>
        </p:nvSpPr>
        <p:spPr>
          <a:xfrm>
            <a:off x="6178451" y="1424136"/>
            <a:ext cx="2266899" cy="219373"/>
          </a:xfrm>
          <a:prstGeom prst="rect">
            <a:avLst/>
          </a:prstGeom>
          <a:noFill/>
          <a:ln/>
        </p:spPr>
        <p:txBody>
          <a:bodyPr wrap="square" lIns="0" tIns="0" rIns="0" bIns="0" rtlCol="0" anchor="t"/>
          <a:lstStyle/>
          <a:p>
            <a:pPr algn="l" indent="0" marL="0">
              <a:lnSpc>
                <a:spcPts val="1728"/>
              </a:lnSpc>
              <a:spcAft>
                <a:spcPts val="900"/>
              </a:spcAft>
              <a:buNone/>
            </a:pPr>
            <a:r>
              <a:rPr lang="en-US" sz="1440" b="1" dirty="0">
                <a:solidFill>
                  <a:srgbClr val="FFFFFF"/>
                </a:solidFill>
                <a:latin typeface="Arial" pitchFamily="34" charset="0"/>
                <a:ea typeface="Arial" pitchFamily="34" charset="-122"/>
                <a:cs typeface="Arial" pitchFamily="34" charset="-120"/>
              </a:rPr>
              <a:t>Faculty Training</a:t>
            </a:r>
            <a:endParaRPr lang="en-US" sz="1440" dirty="0"/>
          </a:p>
        </p:txBody>
      </p:sp>
      <p:sp>
        <p:nvSpPr>
          <p:cNvPr id="12" name="Text 10"/>
          <p:cNvSpPr/>
          <p:nvPr/>
        </p:nvSpPr>
        <p:spPr>
          <a:xfrm>
            <a:off x="6178451" y="1757809"/>
            <a:ext cx="2222450" cy="571500"/>
          </a:xfrm>
          <a:prstGeom prst="rect">
            <a:avLst/>
          </a:prstGeom>
          <a:noFill/>
          <a:ln/>
        </p:spPr>
        <p:txBody>
          <a:bodyPr wrap="square" lIns="68580" tIns="0" rIns="0" bIns="0" rtlCol="0" anchor="t"/>
          <a:lstStyle/>
          <a:p>
            <a:pPr algn="l" marL="68580" indent="-68580">
              <a:lnSpc>
                <a:spcPts val="2100"/>
              </a:lnSpc>
              <a:buSzPct val="100000"/>
              <a:buChar char="•"/>
            </a:pPr>
            <a:r>
              <a:rPr lang="en-US" sz="1350" dirty="0">
                <a:solidFill>
                  <a:srgbClr val="FFFFFF"/>
                </a:solidFill>
                <a:latin typeface="Arial" pitchFamily="34" charset="0"/>
                <a:ea typeface="Arial" pitchFamily="34" charset="-122"/>
                <a:cs typeface="Arial" pitchFamily="34" charset="-120"/>
              </a:rPr>
              <a:t>AI literacy programs</a:t>
            </a:r>
            <a:endParaRPr lang="en-US" sz="1350" dirty="0"/>
          </a:p>
          <a:p>
            <a:pPr algn="l" marL="68580" indent="-68580">
              <a:lnSpc>
                <a:spcPts val="2100"/>
              </a:lnSpc>
              <a:buSzPct val="100000"/>
              <a:buChar char="•"/>
            </a:pPr>
            <a:r>
              <a:rPr lang="en-US" sz="1350" dirty="0">
                <a:solidFill>
                  <a:srgbClr val="FFFFFF"/>
                </a:solidFill>
                <a:latin typeface="Arial" pitchFamily="34" charset="0"/>
                <a:ea typeface="Arial" pitchFamily="34" charset="-122"/>
                <a:cs typeface="Arial" pitchFamily="34" charset="-120"/>
              </a:rPr>
              <a:t>Tool integration</a:t>
            </a:r>
            <a:endParaRPr lang="en-US" sz="1350" dirty="0"/>
          </a:p>
        </p:txBody>
      </p:sp>
      <p:sp>
        <p:nvSpPr>
          <p:cNvPr id="13" name="Text 11"/>
          <p:cNvSpPr/>
          <p:nvPr/>
        </p:nvSpPr>
        <p:spPr>
          <a:xfrm>
            <a:off x="571500" y="2843659"/>
            <a:ext cx="8161020" cy="219373"/>
          </a:xfrm>
          <a:prstGeom prst="rect">
            <a:avLst/>
          </a:prstGeom>
          <a:noFill/>
          <a:ln/>
        </p:spPr>
        <p:txBody>
          <a:bodyPr wrap="square" lIns="0" tIns="0" rIns="0" bIns="0" rtlCol="0" anchor="t"/>
          <a:lstStyle/>
          <a:p>
            <a:pPr algn="l" indent="0" marL="0">
              <a:lnSpc>
                <a:spcPts val="1728"/>
              </a:lnSpc>
              <a:spcBef>
                <a:spcPts val="1500"/>
              </a:spcBef>
              <a:spcAft>
                <a:spcPts val="900"/>
              </a:spcAft>
              <a:buNone/>
            </a:pPr>
            <a:r>
              <a:rPr lang="en-US" sz="1440" b="1" dirty="0">
                <a:solidFill>
                  <a:srgbClr val="1C4E80"/>
                </a:solidFill>
                <a:latin typeface="Arial" pitchFamily="34" charset="0"/>
                <a:ea typeface="Arial" pitchFamily="34" charset="-122"/>
                <a:cs typeface="Arial" pitchFamily="34" charset="-120"/>
              </a:rPr>
              <a:t>Three-Pronged Approach</a:t>
            </a:r>
            <a:endParaRPr lang="en-US" sz="1440" dirty="0"/>
          </a:p>
        </p:txBody>
      </p:sp>
      <p:sp>
        <p:nvSpPr>
          <p:cNvPr id="14" name="Text 12"/>
          <p:cNvSpPr/>
          <p:nvPr/>
        </p:nvSpPr>
        <p:spPr>
          <a:xfrm>
            <a:off x="571500" y="3329732"/>
            <a:ext cx="8001000" cy="876300"/>
          </a:xfrm>
          <a:prstGeom prst="rect">
            <a:avLst/>
          </a:prstGeom>
          <a:noFill/>
          <a:ln/>
        </p:spPr>
        <p:txBody>
          <a:bodyPr wrap="square" lIns="72390" tIns="0" rIns="0" bIns="0" rtlCol="0" anchor="t"/>
          <a:lstStyle/>
          <a:p>
            <a:pPr algn="l" marL="72390" indent="-7239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Incentivize integrity:</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Credit for process, not just product</a:t>
            </a:r>
            <a:endParaRPr lang="en-US" sz="1350" dirty="0"/>
          </a:p>
          <a:p>
            <a:pPr algn="l" marL="72390" indent="-7239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Randomization:</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Make online answer-finding harder</a:t>
            </a:r>
            <a:endParaRPr lang="en-US" sz="1350" dirty="0"/>
          </a:p>
          <a:p>
            <a:pPr algn="l" marL="72390" indent="-7239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Detection tools:</a:t>
            </a:r>
            <a:pPr algn="l" indent="0" marL="0">
              <a:lnSpc>
                <a:spcPts val="2100"/>
              </a:lnSpc>
              <a:buNone/>
            </a:pPr>
            <a:r>
              <a:rPr lang="en-US" sz="1350" dirty="0">
                <a:solidFill>
                  <a:srgbClr val="1D1D1D"/>
                </a:solidFill>
                <a:latin typeface="Arial" pitchFamily="34" charset="0"/>
                <a:ea typeface="Arial" pitchFamily="34" charset="-122"/>
                <a:cs typeface="Arial" pitchFamily="34" charset="-120"/>
              </a:rPr>
              <a:t> Identify suspicious patterns</a:t>
            </a:r>
            <a:endParaRPr lang="en-US" sz="1350" dirty="0"/>
          </a:p>
        </p:txBody>
      </p:sp>
      <p:sp>
        <p:nvSpPr>
          <p:cNvPr id="15" name="Text 13"/>
          <p:cNvSpPr/>
          <p:nvPr/>
        </p:nvSpPr>
        <p:spPr>
          <a:xfrm>
            <a:off x="571500" y="4396532"/>
            <a:ext cx="8161020" cy="170557"/>
          </a:xfrm>
          <a:prstGeom prst="rect">
            <a:avLst/>
          </a:prstGeom>
          <a:noFill/>
          <a:ln/>
        </p:spPr>
        <p:txBody>
          <a:bodyPr wrap="square" lIns="0" tIns="0" rIns="0" bIns="0" rtlCol="0" anchor="t"/>
          <a:lstStyle/>
          <a:p>
            <a:pPr algn="l" indent="0" marL="0">
              <a:lnSpc>
                <a:spcPts val="1344"/>
              </a:lnSpc>
              <a:spcBef>
                <a:spcPts val="300"/>
              </a:spcBef>
              <a:spcAft>
                <a:spcPts val="300"/>
              </a:spcAft>
              <a:buNone/>
            </a:pPr>
            <a:r>
              <a:rPr lang="en-US" sz="960" dirty="0">
                <a:solidFill>
                  <a:srgbClr val="737373"/>
                </a:solidFill>
                <a:latin typeface="Arial" pitchFamily="34" charset="0"/>
                <a:ea typeface="Arial" pitchFamily="34" charset="-122"/>
                <a:cs typeface="Arial" pitchFamily="34" charset="-120"/>
              </a:rPr>
              <a:t>Sources: Vanderbeek, 2024; Crow, 2025</a:t>
            </a:r>
            <a:endParaRPr lang="en-US" sz="9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71500" y="971550"/>
            <a:ext cx="8001000" cy="0"/>
          </a:xfrm>
          <a:prstGeom prst="line">
            <a:avLst/>
          </a:prstGeom>
          <a:noFill/>
          <a:ln w="38100">
            <a:solidFill>
              <a:srgbClr val="5EA8A7"/>
            </a:solidFill>
            <a:prstDash val="solid"/>
          </a:ln>
        </p:spPr>
      </p:sp>
      <p:sp>
        <p:nvSpPr>
          <p:cNvPr id="3" name="Text 1"/>
          <p:cNvSpPr/>
          <p:nvPr/>
        </p:nvSpPr>
        <p:spPr>
          <a:xfrm>
            <a:off x="571500" y="476250"/>
            <a:ext cx="4556570" cy="476250"/>
          </a:xfrm>
          <a:prstGeom prst="rect">
            <a:avLst/>
          </a:prstGeom>
          <a:noFill/>
          <a:ln/>
        </p:spPr>
        <p:txBody>
          <a:bodyPr wrap="square" lIns="0" tIns="0" rIns="0" bIns="95250" rtlCol="0" anchor="t"/>
          <a:lstStyle/>
          <a:p>
            <a:pPr algn="l" indent="0" marL="0">
              <a:lnSpc>
                <a:spcPts val="3000"/>
              </a:lnSpc>
              <a:buNone/>
            </a:pPr>
            <a:r>
              <a:rPr lang="en-US" sz="2700" b="1" dirty="0">
                <a:solidFill>
                  <a:srgbClr val="1C4E80"/>
                </a:solidFill>
                <a:latin typeface="Arial" pitchFamily="34" charset="0"/>
                <a:ea typeface="Arial" pitchFamily="34" charset="-122"/>
                <a:cs typeface="Arial" pitchFamily="34" charset="-120"/>
              </a:rPr>
              <a:t>Implementation Framework</a:t>
            </a:r>
            <a:endParaRPr lang="en-US" sz="2700" dirty="0"/>
          </a:p>
        </p:txBody>
      </p:sp>
      <p:sp>
        <p:nvSpPr>
          <p:cNvPr id="4" name="Text 2"/>
          <p:cNvSpPr/>
          <p:nvPr/>
        </p:nvSpPr>
        <p:spPr>
          <a:xfrm>
            <a:off x="571500" y="880021"/>
            <a:ext cx="2565350" cy="1232297"/>
          </a:xfrm>
          <a:prstGeom prst="roundRect">
            <a:avLst>
              <a:gd name="adj" fmla="val 6184"/>
            </a:avLst>
          </a:prstGeom>
          <a:solidFill>
            <a:srgbClr val="FE4447"/>
          </a:solidFill>
          <a:ln/>
        </p:spPr>
        <p:txBody>
          <a:bodyPr wrap="square" rtlCol="0" anchor="ctr"/>
          <a:lstStyle/>
          <a:p>
            <a:pPr indent="0" marL="0">
              <a:buNone/>
            </a:pPr>
            <a:endParaRPr lang="en-US" dirty="0"/>
          </a:p>
        </p:txBody>
      </p:sp>
      <p:sp>
        <p:nvSpPr>
          <p:cNvPr id="5" name="Text 3"/>
          <p:cNvSpPr/>
          <p:nvPr/>
        </p:nvSpPr>
        <p:spPr>
          <a:xfrm>
            <a:off x="691579" y="1060996"/>
            <a:ext cx="2325192" cy="383977"/>
          </a:xfrm>
          <a:prstGeom prst="rect">
            <a:avLst/>
          </a:prstGeom>
          <a:noFill/>
          <a:ln/>
        </p:spPr>
        <p:txBody>
          <a:bodyPr wrap="square" lIns="0" tIns="0" rIns="0" bIns="0" rtlCol="0" anchor="t"/>
          <a:lstStyle/>
          <a:p>
            <a:pPr algn="ctr" indent="0" marL="0">
              <a:lnSpc>
                <a:spcPts val="3024"/>
              </a:lnSpc>
              <a:spcBef>
                <a:spcPts val="300"/>
              </a:spcBef>
              <a:spcAft>
                <a:spcPts val="375"/>
              </a:spcAft>
              <a:buNone/>
            </a:pPr>
            <a:r>
              <a:rPr lang="en-US" sz="2160" b="1" dirty="0">
                <a:solidFill>
                  <a:srgbClr val="FFFFFF"/>
                </a:solidFill>
                <a:latin typeface="Arial" pitchFamily="34" charset="0"/>
                <a:ea typeface="Arial" pitchFamily="34" charset="-122"/>
                <a:cs typeface="Arial" pitchFamily="34" charset="-120"/>
              </a:rPr>
              <a:t>1</a:t>
            </a:r>
            <a:endParaRPr lang="en-US" sz="2160" dirty="0"/>
          </a:p>
        </p:txBody>
      </p:sp>
      <p:sp>
        <p:nvSpPr>
          <p:cNvPr id="6" name="Text 4"/>
          <p:cNvSpPr/>
          <p:nvPr/>
        </p:nvSpPr>
        <p:spPr>
          <a:xfrm>
            <a:off x="691579" y="1492597"/>
            <a:ext cx="2325192" cy="191988"/>
          </a:xfrm>
          <a:prstGeom prst="rect">
            <a:avLst/>
          </a:prstGeom>
          <a:noFill/>
          <a:ln/>
        </p:spPr>
        <p:txBody>
          <a:bodyPr wrap="square" lIns="0" tIns="0" rIns="0" bIns="0" rtlCol="0" anchor="t"/>
          <a:lstStyle/>
          <a:p>
            <a:pPr algn="ctr" indent="0" marL="0">
              <a:lnSpc>
                <a:spcPts val="1512"/>
              </a:lnSpc>
              <a:spcBef>
                <a:spcPts val="300"/>
              </a:spcBef>
              <a:spcAft>
                <a:spcPts val="300"/>
              </a:spcAft>
              <a:buNone/>
            </a:pPr>
            <a:r>
              <a:rPr lang="en-US" sz="1080" b="1" dirty="0">
                <a:solidFill>
                  <a:srgbClr val="FFFFFF"/>
                </a:solidFill>
                <a:latin typeface="Arial" pitchFamily="34" charset="0"/>
                <a:ea typeface="Arial" pitchFamily="34" charset="-122"/>
                <a:cs typeface="Arial" pitchFamily="34" charset="-120"/>
              </a:rPr>
              <a:t>Assess Current State</a:t>
            </a:r>
            <a:endParaRPr lang="en-US" sz="1080" dirty="0"/>
          </a:p>
        </p:txBody>
      </p:sp>
      <p:sp>
        <p:nvSpPr>
          <p:cNvPr id="7" name="Text 5"/>
          <p:cNvSpPr/>
          <p:nvPr/>
        </p:nvSpPr>
        <p:spPr>
          <a:xfrm>
            <a:off x="691579" y="1760786"/>
            <a:ext cx="2325192" cy="170557"/>
          </a:xfrm>
          <a:prstGeom prst="rect">
            <a:avLst/>
          </a:prstGeom>
          <a:noFill/>
          <a:ln/>
        </p:spPr>
        <p:txBody>
          <a:bodyPr wrap="square" lIns="0" tIns="0" rIns="0" bIns="0" rtlCol="0" anchor="t"/>
          <a:lstStyle/>
          <a:p>
            <a:pPr algn="ctr" indent="0" marL="0">
              <a:lnSpc>
                <a:spcPts val="1344"/>
              </a:lnSpc>
              <a:spcBef>
                <a:spcPts val="600"/>
              </a:spcBef>
              <a:spcAft>
                <a:spcPts val="300"/>
              </a:spcAft>
              <a:buNone/>
            </a:pPr>
            <a:r>
              <a:rPr lang="en-US" sz="960" dirty="0">
                <a:solidFill>
                  <a:srgbClr val="FFFFFF"/>
                </a:solidFill>
                <a:latin typeface="Arial" pitchFamily="34" charset="0"/>
                <a:ea typeface="Arial" pitchFamily="34" charset="-122"/>
                <a:cs typeface="Arial" pitchFamily="34" charset="-120"/>
              </a:rPr>
              <a:t>Evaluate AI readiness and vulnerabilities</a:t>
            </a:r>
            <a:endParaRPr lang="en-US" sz="960" dirty="0"/>
          </a:p>
        </p:txBody>
      </p:sp>
      <p:sp>
        <p:nvSpPr>
          <p:cNvPr id="8" name="Text 6"/>
          <p:cNvSpPr/>
          <p:nvPr/>
        </p:nvSpPr>
        <p:spPr>
          <a:xfrm>
            <a:off x="3289250" y="880021"/>
            <a:ext cx="2565350" cy="1232297"/>
          </a:xfrm>
          <a:prstGeom prst="roundRect">
            <a:avLst>
              <a:gd name="adj" fmla="val 6184"/>
            </a:avLst>
          </a:prstGeom>
          <a:solidFill>
            <a:srgbClr val="1C4E80"/>
          </a:solidFill>
          <a:ln/>
        </p:spPr>
        <p:txBody>
          <a:bodyPr wrap="square" rtlCol="0" anchor="ctr"/>
          <a:lstStyle/>
          <a:p>
            <a:pPr indent="0" marL="0">
              <a:buNone/>
            </a:pPr>
            <a:endParaRPr lang="en-US" dirty="0"/>
          </a:p>
        </p:txBody>
      </p:sp>
      <p:sp>
        <p:nvSpPr>
          <p:cNvPr id="9" name="Text 7"/>
          <p:cNvSpPr/>
          <p:nvPr/>
        </p:nvSpPr>
        <p:spPr>
          <a:xfrm>
            <a:off x="3409329" y="1060996"/>
            <a:ext cx="2325192" cy="383977"/>
          </a:xfrm>
          <a:prstGeom prst="rect">
            <a:avLst/>
          </a:prstGeom>
          <a:noFill/>
          <a:ln/>
        </p:spPr>
        <p:txBody>
          <a:bodyPr wrap="square" lIns="0" tIns="0" rIns="0" bIns="0" rtlCol="0" anchor="t"/>
          <a:lstStyle/>
          <a:p>
            <a:pPr algn="ctr" indent="0" marL="0">
              <a:lnSpc>
                <a:spcPts val="3024"/>
              </a:lnSpc>
              <a:spcBef>
                <a:spcPts val="300"/>
              </a:spcBef>
              <a:spcAft>
                <a:spcPts val="375"/>
              </a:spcAft>
              <a:buNone/>
            </a:pPr>
            <a:r>
              <a:rPr lang="en-US" sz="2160" b="1" dirty="0">
                <a:solidFill>
                  <a:srgbClr val="FFFFFF"/>
                </a:solidFill>
                <a:latin typeface="Arial" pitchFamily="34" charset="0"/>
                <a:ea typeface="Arial" pitchFamily="34" charset="-122"/>
                <a:cs typeface="Arial" pitchFamily="34" charset="-120"/>
              </a:rPr>
              <a:t>2</a:t>
            </a:r>
            <a:endParaRPr lang="en-US" sz="2160" dirty="0"/>
          </a:p>
        </p:txBody>
      </p:sp>
      <p:sp>
        <p:nvSpPr>
          <p:cNvPr id="10" name="Text 8"/>
          <p:cNvSpPr/>
          <p:nvPr/>
        </p:nvSpPr>
        <p:spPr>
          <a:xfrm>
            <a:off x="3409329" y="1492597"/>
            <a:ext cx="2325192" cy="191988"/>
          </a:xfrm>
          <a:prstGeom prst="rect">
            <a:avLst/>
          </a:prstGeom>
          <a:noFill/>
          <a:ln/>
        </p:spPr>
        <p:txBody>
          <a:bodyPr wrap="square" lIns="0" tIns="0" rIns="0" bIns="0" rtlCol="0" anchor="t"/>
          <a:lstStyle/>
          <a:p>
            <a:pPr algn="ctr" indent="0" marL="0">
              <a:lnSpc>
                <a:spcPts val="1512"/>
              </a:lnSpc>
              <a:spcBef>
                <a:spcPts val="300"/>
              </a:spcBef>
              <a:spcAft>
                <a:spcPts val="300"/>
              </a:spcAft>
              <a:buNone/>
            </a:pPr>
            <a:r>
              <a:rPr lang="en-US" sz="1080" b="1" dirty="0">
                <a:solidFill>
                  <a:srgbClr val="FFFFFF"/>
                </a:solidFill>
                <a:latin typeface="Arial" pitchFamily="34" charset="0"/>
                <a:ea typeface="Arial" pitchFamily="34" charset="-122"/>
                <a:cs typeface="Arial" pitchFamily="34" charset="-120"/>
              </a:rPr>
              <a:t>Build Ethical Framework</a:t>
            </a:r>
            <a:endParaRPr lang="en-US" sz="1080" dirty="0"/>
          </a:p>
        </p:txBody>
      </p:sp>
      <p:sp>
        <p:nvSpPr>
          <p:cNvPr id="11" name="Text 9"/>
          <p:cNvSpPr/>
          <p:nvPr/>
        </p:nvSpPr>
        <p:spPr>
          <a:xfrm>
            <a:off x="3409329" y="1760786"/>
            <a:ext cx="2325192" cy="170557"/>
          </a:xfrm>
          <a:prstGeom prst="rect">
            <a:avLst/>
          </a:prstGeom>
          <a:noFill/>
          <a:ln/>
        </p:spPr>
        <p:txBody>
          <a:bodyPr wrap="square" lIns="0" tIns="0" rIns="0" bIns="0" rtlCol="0" anchor="t"/>
          <a:lstStyle/>
          <a:p>
            <a:pPr algn="ctr" indent="0" marL="0">
              <a:lnSpc>
                <a:spcPts val="1344"/>
              </a:lnSpc>
              <a:spcBef>
                <a:spcPts val="600"/>
              </a:spcBef>
              <a:spcAft>
                <a:spcPts val="300"/>
              </a:spcAft>
              <a:buNone/>
            </a:pPr>
            <a:r>
              <a:rPr lang="en-US" sz="960" dirty="0">
                <a:solidFill>
                  <a:srgbClr val="FFFFFF"/>
                </a:solidFill>
                <a:latin typeface="Arial" pitchFamily="34" charset="0"/>
                <a:ea typeface="Arial" pitchFamily="34" charset="-122"/>
                <a:cs typeface="Arial" pitchFamily="34" charset="-120"/>
              </a:rPr>
              <a:t>Develop policies and culture of integrity</a:t>
            </a:r>
            <a:endParaRPr lang="en-US" sz="960" dirty="0"/>
          </a:p>
        </p:txBody>
      </p:sp>
      <p:sp>
        <p:nvSpPr>
          <p:cNvPr id="12" name="Text 10"/>
          <p:cNvSpPr/>
          <p:nvPr/>
        </p:nvSpPr>
        <p:spPr>
          <a:xfrm>
            <a:off x="6007001" y="880021"/>
            <a:ext cx="2565350" cy="1232297"/>
          </a:xfrm>
          <a:prstGeom prst="roundRect">
            <a:avLst>
              <a:gd name="adj" fmla="val 6184"/>
            </a:avLst>
          </a:prstGeom>
          <a:solidFill>
            <a:srgbClr val="5EA8A7"/>
          </a:solidFill>
          <a:ln/>
        </p:spPr>
        <p:txBody>
          <a:bodyPr wrap="square" rtlCol="0" anchor="ctr"/>
          <a:lstStyle/>
          <a:p>
            <a:pPr indent="0" marL="0">
              <a:buNone/>
            </a:pPr>
            <a:endParaRPr lang="en-US" dirty="0"/>
          </a:p>
        </p:txBody>
      </p:sp>
      <p:sp>
        <p:nvSpPr>
          <p:cNvPr id="13" name="Text 11"/>
          <p:cNvSpPr/>
          <p:nvPr/>
        </p:nvSpPr>
        <p:spPr>
          <a:xfrm>
            <a:off x="6127080" y="1060996"/>
            <a:ext cx="2325192" cy="383977"/>
          </a:xfrm>
          <a:prstGeom prst="rect">
            <a:avLst/>
          </a:prstGeom>
          <a:noFill/>
          <a:ln/>
        </p:spPr>
        <p:txBody>
          <a:bodyPr wrap="square" lIns="0" tIns="0" rIns="0" bIns="0" rtlCol="0" anchor="t"/>
          <a:lstStyle/>
          <a:p>
            <a:pPr algn="ctr" indent="0" marL="0">
              <a:lnSpc>
                <a:spcPts val="3024"/>
              </a:lnSpc>
              <a:spcBef>
                <a:spcPts val="300"/>
              </a:spcBef>
              <a:spcAft>
                <a:spcPts val="375"/>
              </a:spcAft>
              <a:buNone/>
            </a:pPr>
            <a:r>
              <a:rPr lang="en-US" sz="2160" b="1" dirty="0">
                <a:solidFill>
                  <a:srgbClr val="FFFFFF"/>
                </a:solidFill>
                <a:latin typeface="Arial" pitchFamily="34" charset="0"/>
                <a:ea typeface="Arial" pitchFamily="34" charset="-122"/>
                <a:cs typeface="Arial" pitchFamily="34" charset="-120"/>
              </a:rPr>
              <a:t>3</a:t>
            </a:r>
            <a:endParaRPr lang="en-US" sz="2160" dirty="0"/>
          </a:p>
        </p:txBody>
      </p:sp>
      <p:sp>
        <p:nvSpPr>
          <p:cNvPr id="14" name="Text 12"/>
          <p:cNvSpPr/>
          <p:nvPr/>
        </p:nvSpPr>
        <p:spPr>
          <a:xfrm>
            <a:off x="6127080" y="1492597"/>
            <a:ext cx="2325192" cy="191988"/>
          </a:xfrm>
          <a:prstGeom prst="rect">
            <a:avLst/>
          </a:prstGeom>
          <a:noFill/>
          <a:ln/>
        </p:spPr>
        <p:txBody>
          <a:bodyPr wrap="square" lIns="0" tIns="0" rIns="0" bIns="0" rtlCol="0" anchor="t"/>
          <a:lstStyle/>
          <a:p>
            <a:pPr algn="ctr" indent="0" marL="0">
              <a:lnSpc>
                <a:spcPts val="1512"/>
              </a:lnSpc>
              <a:spcBef>
                <a:spcPts val="300"/>
              </a:spcBef>
              <a:spcAft>
                <a:spcPts val="300"/>
              </a:spcAft>
              <a:buNone/>
            </a:pPr>
            <a:r>
              <a:rPr lang="en-US" sz="1080" b="1" dirty="0">
                <a:solidFill>
                  <a:srgbClr val="FFFFFF"/>
                </a:solidFill>
                <a:latin typeface="Arial" pitchFamily="34" charset="0"/>
                <a:ea typeface="Arial" pitchFamily="34" charset="-122"/>
                <a:cs typeface="Arial" pitchFamily="34" charset="-120"/>
              </a:rPr>
              <a:t>Train Stakeholders</a:t>
            </a:r>
            <a:endParaRPr lang="en-US" sz="1080" dirty="0"/>
          </a:p>
        </p:txBody>
      </p:sp>
      <p:sp>
        <p:nvSpPr>
          <p:cNvPr id="15" name="Text 13"/>
          <p:cNvSpPr/>
          <p:nvPr/>
        </p:nvSpPr>
        <p:spPr>
          <a:xfrm>
            <a:off x="6127080" y="1760786"/>
            <a:ext cx="2325192" cy="170557"/>
          </a:xfrm>
          <a:prstGeom prst="rect">
            <a:avLst/>
          </a:prstGeom>
          <a:noFill/>
          <a:ln/>
        </p:spPr>
        <p:txBody>
          <a:bodyPr wrap="square" lIns="0" tIns="0" rIns="0" bIns="0" rtlCol="0" anchor="t"/>
          <a:lstStyle/>
          <a:p>
            <a:pPr algn="ctr" indent="0" marL="0">
              <a:lnSpc>
                <a:spcPts val="1344"/>
              </a:lnSpc>
              <a:spcBef>
                <a:spcPts val="600"/>
              </a:spcBef>
              <a:spcAft>
                <a:spcPts val="300"/>
              </a:spcAft>
              <a:buNone/>
            </a:pPr>
            <a:r>
              <a:rPr lang="en-US" sz="960" dirty="0">
                <a:solidFill>
                  <a:srgbClr val="FFFFFF"/>
                </a:solidFill>
                <a:latin typeface="Arial" pitchFamily="34" charset="0"/>
                <a:ea typeface="Arial" pitchFamily="34" charset="-122"/>
                <a:cs typeface="Arial" pitchFamily="34" charset="-120"/>
              </a:rPr>
              <a:t>Educate faculty, staff, and students</a:t>
            </a:r>
            <a:endParaRPr lang="en-US" sz="960" dirty="0"/>
          </a:p>
        </p:txBody>
      </p:sp>
      <p:sp>
        <p:nvSpPr>
          <p:cNvPr id="16" name="Text 14"/>
          <p:cNvSpPr/>
          <p:nvPr/>
        </p:nvSpPr>
        <p:spPr>
          <a:xfrm>
            <a:off x="571500" y="2407593"/>
            <a:ext cx="2565350" cy="1232297"/>
          </a:xfrm>
          <a:prstGeom prst="roundRect">
            <a:avLst>
              <a:gd name="adj" fmla="val 6184"/>
            </a:avLst>
          </a:prstGeom>
          <a:solidFill>
            <a:srgbClr val="2ECC71"/>
          </a:solidFill>
          <a:ln/>
        </p:spPr>
        <p:txBody>
          <a:bodyPr wrap="square" rtlCol="0" anchor="ctr"/>
          <a:lstStyle/>
          <a:p>
            <a:pPr indent="0" marL="0">
              <a:buNone/>
            </a:pPr>
            <a:endParaRPr lang="en-US" dirty="0"/>
          </a:p>
        </p:txBody>
      </p:sp>
      <p:sp>
        <p:nvSpPr>
          <p:cNvPr id="17" name="Text 15"/>
          <p:cNvSpPr/>
          <p:nvPr/>
        </p:nvSpPr>
        <p:spPr>
          <a:xfrm>
            <a:off x="691579" y="2588568"/>
            <a:ext cx="2325192" cy="383977"/>
          </a:xfrm>
          <a:prstGeom prst="rect">
            <a:avLst/>
          </a:prstGeom>
          <a:noFill/>
          <a:ln/>
        </p:spPr>
        <p:txBody>
          <a:bodyPr wrap="square" lIns="0" tIns="0" rIns="0" bIns="0" rtlCol="0" anchor="t"/>
          <a:lstStyle/>
          <a:p>
            <a:pPr algn="ctr" indent="0" marL="0">
              <a:lnSpc>
                <a:spcPts val="3024"/>
              </a:lnSpc>
              <a:spcBef>
                <a:spcPts val="300"/>
              </a:spcBef>
              <a:spcAft>
                <a:spcPts val="375"/>
              </a:spcAft>
              <a:buNone/>
            </a:pPr>
            <a:r>
              <a:rPr lang="en-US" sz="2160" b="1" dirty="0">
                <a:solidFill>
                  <a:srgbClr val="FFFFFF"/>
                </a:solidFill>
                <a:latin typeface="Arial" pitchFamily="34" charset="0"/>
                <a:ea typeface="Arial" pitchFamily="34" charset="-122"/>
                <a:cs typeface="Arial" pitchFamily="34" charset="-120"/>
              </a:rPr>
              <a:t>4</a:t>
            </a:r>
            <a:endParaRPr lang="en-US" sz="2160" dirty="0"/>
          </a:p>
        </p:txBody>
      </p:sp>
      <p:sp>
        <p:nvSpPr>
          <p:cNvPr id="18" name="Text 16"/>
          <p:cNvSpPr/>
          <p:nvPr/>
        </p:nvSpPr>
        <p:spPr>
          <a:xfrm>
            <a:off x="691579" y="3020169"/>
            <a:ext cx="2325192" cy="191988"/>
          </a:xfrm>
          <a:prstGeom prst="rect">
            <a:avLst/>
          </a:prstGeom>
          <a:noFill/>
          <a:ln/>
        </p:spPr>
        <p:txBody>
          <a:bodyPr wrap="square" lIns="0" tIns="0" rIns="0" bIns="0" rtlCol="0" anchor="t"/>
          <a:lstStyle/>
          <a:p>
            <a:pPr algn="ctr" indent="0" marL="0">
              <a:lnSpc>
                <a:spcPts val="1512"/>
              </a:lnSpc>
              <a:spcBef>
                <a:spcPts val="300"/>
              </a:spcBef>
              <a:spcAft>
                <a:spcPts val="300"/>
              </a:spcAft>
              <a:buNone/>
            </a:pPr>
            <a:r>
              <a:rPr lang="en-US" sz="1080" b="1" dirty="0">
                <a:solidFill>
                  <a:srgbClr val="FFFFFF"/>
                </a:solidFill>
                <a:latin typeface="Arial" pitchFamily="34" charset="0"/>
                <a:ea typeface="Arial" pitchFamily="34" charset="-122"/>
                <a:cs typeface="Arial" pitchFamily="34" charset="-120"/>
              </a:rPr>
              <a:t>Redesign Assessment</a:t>
            </a:r>
            <a:endParaRPr lang="en-US" sz="1080" dirty="0"/>
          </a:p>
        </p:txBody>
      </p:sp>
      <p:sp>
        <p:nvSpPr>
          <p:cNvPr id="19" name="Text 17"/>
          <p:cNvSpPr/>
          <p:nvPr/>
        </p:nvSpPr>
        <p:spPr>
          <a:xfrm>
            <a:off x="691579" y="3288357"/>
            <a:ext cx="2325192" cy="170557"/>
          </a:xfrm>
          <a:prstGeom prst="rect">
            <a:avLst/>
          </a:prstGeom>
          <a:noFill/>
          <a:ln/>
        </p:spPr>
        <p:txBody>
          <a:bodyPr wrap="square" lIns="0" tIns="0" rIns="0" bIns="0" rtlCol="0" anchor="t"/>
          <a:lstStyle/>
          <a:p>
            <a:pPr algn="ctr" indent="0" marL="0">
              <a:lnSpc>
                <a:spcPts val="1344"/>
              </a:lnSpc>
              <a:spcBef>
                <a:spcPts val="600"/>
              </a:spcBef>
              <a:spcAft>
                <a:spcPts val="300"/>
              </a:spcAft>
              <a:buNone/>
            </a:pPr>
            <a:r>
              <a:rPr lang="en-US" sz="960" dirty="0">
                <a:solidFill>
                  <a:srgbClr val="FFFFFF"/>
                </a:solidFill>
                <a:latin typeface="Arial" pitchFamily="34" charset="0"/>
                <a:ea typeface="Arial" pitchFamily="34" charset="-122"/>
                <a:cs typeface="Arial" pitchFamily="34" charset="-120"/>
              </a:rPr>
              <a:t>Create AI-resistant evaluation methods</a:t>
            </a:r>
            <a:endParaRPr lang="en-US" sz="960" dirty="0"/>
          </a:p>
        </p:txBody>
      </p:sp>
      <p:sp>
        <p:nvSpPr>
          <p:cNvPr id="20" name="Text 18"/>
          <p:cNvSpPr/>
          <p:nvPr/>
        </p:nvSpPr>
        <p:spPr>
          <a:xfrm>
            <a:off x="3289250" y="2407593"/>
            <a:ext cx="2565350" cy="1232297"/>
          </a:xfrm>
          <a:prstGeom prst="roundRect">
            <a:avLst>
              <a:gd name="adj" fmla="val 6184"/>
            </a:avLst>
          </a:prstGeom>
          <a:solidFill>
            <a:srgbClr val="1C4E80"/>
          </a:solidFill>
          <a:ln/>
        </p:spPr>
        <p:txBody>
          <a:bodyPr wrap="square" rtlCol="0" anchor="ctr"/>
          <a:lstStyle/>
          <a:p>
            <a:pPr indent="0" marL="0">
              <a:buNone/>
            </a:pPr>
            <a:endParaRPr lang="en-US" dirty="0"/>
          </a:p>
        </p:txBody>
      </p:sp>
      <p:sp>
        <p:nvSpPr>
          <p:cNvPr id="21" name="Text 19"/>
          <p:cNvSpPr/>
          <p:nvPr/>
        </p:nvSpPr>
        <p:spPr>
          <a:xfrm>
            <a:off x="3409329" y="2588568"/>
            <a:ext cx="2325192" cy="383977"/>
          </a:xfrm>
          <a:prstGeom prst="rect">
            <a:avLst/>
          </a:prstGeom>
          <a:noFill/>
          <a:ln/>
        </p:spPr>
        <p:txBody>
          <a:bodyPr wrap="square" lIns="0" tIns="0" rIns="0" bIns="0" rtlCol="0" anchor="t"/>
          <a:lstStyle/>
          <a:p>
            <a:pPr algn="ctr" indent="0" marL="0">
              <a:lnSpc>
                <a:spcPts val="3024"/>
              </a:lnSpc>
              <a:spcBef>
                <a:spcPts val="300"/>
              </a:spcBef>
              <a:spcAft>
                <a:spcPts val="375"/>
              </a:spcAft>
              <a:buNone/>
            </a:pPr>
            <a:r>
              <a:rPr lang="en-US" sz="2160" b="1" dirty="0">
                <a:solidFill>
                  <a:srgbClr val="FFFFFF"/>
                </a:solidFill>
                <a:latin typeface="Arial" pitchFamily="34" charset="0"/>
                <a:ea typeface="Arial" pitchFamily="34" charset="-122"/>
                <a:cs typeface="Arial" pitchFamily="34" charset="-120"/>
              </a:rPr>
              <a:t>5</a:t>
            </a:r>
            <a:endParaRPr lang="en-US" sz="2160" dirty="0"/>
          </a:p>
        </p:txBody>
      </p:sp>
      <p:sp>
        <p:nvSpPr>
          <p:cNvPr id="22" name="Text 20"/>
          <p:cNvSpPr/>
          <p:nvPr/>
        </p:nvSpPr>
        <p:spPr>
          <a:xfrm>
            <a:off x="3409329" y="3020169"/>
            <a:ext cx="2325192" cy="191988"/>
          </a:xfrm>
          <a:prstGeom prst="rect">
            <a:avLst/>
          </a:prstGeom>
          <a:noFill/>
          <a:ln/>
        </p:spPr>
        <p:txBody>
          <a:bodyPr wrap="square" lIns="0" tIns="0" rIns="0" bIns="0" rtlCol="0" anchor="t"/>
          <a:lstStyle/>
          <a:p>
            <a:pPr algn="ctr" indent="0" marL="0">
              <a:lnSpc>
                <a:spcPts val="1512"/>
              </a:lnSpc>
              <a:spcBef>
                <a:spcPts val="300"/>
              </a:spcBef>
              <a:spcAft>
                <a:spcPts val="300"/>
              </a:spcAft>
              <a:buNone/>
            </a:pPr>
            <a:r>
              <a:rPr lang="en-US" sz="1080" b="1" dirty="0">
                <a:solidFill>
                  <a:srgbClr val="FFFFFF"/>
                </a:solidFill>
                <a:latin typeface="Arial" pitchFamily="34" charset="0"/>
                <a:ea typeface="Arial" pitchFamily="34" charset="-122"/>
                <a:cs typeface="Arial" pitchFamily="34" charset="-120"/>
              </a:rPr>
              <a:t>Integrate AI Tools</a:t>
            </a:r>
            <a:endParaRPr lang="en-US" sz="1080" dirty="0"/>
          </a:p>
        </p:txBody>
      </p:sp>
      <p:sp>
        <p:nvSpPr>
          <p:cNvPr id="23" name="Text 21"/>
          <p:cNvSpPr/>
          <p:nvPr/>
        </p:nvSpPr>
        <p:spPr>
          <a:xfrm>
            <a:off x="3409329" y="3288357"/>
            <a:ext cx="2325192" cy="170557"/>
          </a:xfrm>
          <a:prstGeom prst="rect">
            <a:avLst/>
          </a:prstGeom>
          <a:noFill/>
          <a:ln/>
        </p:spPr>
        <p:txBody>
          <a:bodyPr wrap="square" lIns="0" tIns="0" rIns="0" bIns="0" rtlCol="0" anchor="t"/>
          <a:lstStyle/>
          <a:p>
            <a:pPr algn="ctr" indent="0" marL="0">
              <a:lnSpc>
                <a:spcPts val="1344"/>
              </a:lnSpc>
              <a:spcBef>
                <a:spcPts val="600"/>
              </a:spcBef>
              <a:spcAft>
                <a:spcPts val="300"/>
              </a:spcAft>
              <a:buNone/>
            </a:pPr>
            <a:r>
              <a:rPr lang="en-US" sz="960" dirty="0">
                <a:solidFill>
                  <a:srgbClr val="FFFFFF"/>
                </a:solidFill>
                <a:latin typeface="Arial" pitchFamily="34" charset="0"/>
                <a:ea typeface="Arial" pitchFamily="34" charset="-122"/>
                <a:cs typeface="Arial" pitchFamily="34" charset="-120"/>
              </a:rPr>
              <a:t>Deploy AI for personalized learning</a:t>
            </a:r>
            <a:endParaRPr lang="en-US" sz="960" dirty="0"/>
          </a:p>
        </p:txBody>
      </p:sp>
      <p:sp>
        <p:nvSpPr>
          <p:cNvPr id="24" name="Text 22"/>
          <p:cNvSpPr/>
          <p:nvPr/>
        </p:nvSpPr>
        <p:spPr>
          <a:xfrm>
            <a:off x="6007001" y="2407593"/>
            <a:ext cx="2565350" cy="1232297"/>
          </a:xfrm>
          <a:prstGeom prst="roundRect">
            <a:avLst>
              <a:gd name="adj" fmla="val 6184"/>
            </a:avLst>
          </a:prstGeom>
          <a:solidFill>
            <a:srgbClr val="5EA8A7"/>
          </a:solidFill>
          <a:ln/>
        </p:spPr>
        <p:txBody>
          <a:bodyPr wrap="square" rtlCol="0" anchor="ctr"/>
          <a:lstStyle/>
          <a:p>
            <a:pPr indent="0" marL="0">
              <a:buNone/>
            </a:pPr>
            <a:endParaRPr lang="en-US" dirty="0"/>
          </a:p>
        </p:txBody>
      </p:sp>
      <p:sp>
        <p:nvSpPr>
          <p:cNvPr id="25" name="Text 23"/>
          <p:cNvSpPr/>
          <p:nvPr/>
        </p:nvSpPr>
        <p:spPr>
          <a:xfrm>
            <a:off x="6127080" y="2588568"/>
            <a:ext cx="2325192" cy="383977"/>
          </a:xfrm>
          <a:prstGeom prst="rect">
            <a:avLst/>
          </a:prstGeom>
          <a:noFill/>
          <a:ln/>
        </p:spPr>
        <p:txBody>
          <a:bodyPr wrap="square" lIns="0" tIns="0" rIns="0" bIns="0" rtlCol="0" anchor="t"/>
          <a:lstStyle/>
          <a:p>
            <a:pPr algn="ctr" indent="0" marL="0">
              <a:lnSpc>
                <a:spcPts val="3024"/>
              </a:lnSpc>
              <a:spcBef>
                <a:spcPts val="300"/>
              </a:spcBef>
              <a:spcAft>
                <a:spcPts val="375"/>
              </a:spcAft>
              <a:buNone/>
            </a:pPr>
            <a:r>
              <a:rPr lang="en-US" sz="2160" b="1" dirty="0">
                <a:solidFill>
                  <a:srgbClr val="FFFFFF"/>
                </a:solidFill>
                <a:latin typeface="Arial" pitchFamily="34" charset="0"/>
                <a:ea typeface="Arial" pitchFamily="34" charset="-122"/>
                <a:cs typeface="Arial" pitchFamily="34" charset="-120"/>
              </a:rPr>
              <a:t>6</a:t>
            </a:r>
            <a:endParaRPr lang="en-US" sz="2160" dirty="0"/>
          </a:p>
        </p:txBody>
      </p:sp>
      <p:sp>
        <p:nvSpPr>
          <p:cNvPr id="26" name="Text 24"/>
          <p:cNvSpPr/>
          <p:nvPr/>
        </p:nvSpPr>
        <p:spPr>
          <a:xfrm>
            <a:off x="6127080" y="3020169"/>
            <a:ext cx="2325192" cy="191988"/>
          </a:xfrm>
          <a:prstGeom prst="rect">
            <a:avLst/>
          </a:prstGeom>
          <a:noFill/>
          <a:ln/>
        </p:spPr>
        <p:txBody>
          <a:bodyPr wrap="square" lIns="0" tIns="0" rIns="0" bIns="0" rtlCol="0" anchor="t"/>
          <a:lstStyle/>
          <a:p>
            <a:pPr algn="ctr" indent="0" marL="0">
              <a:lnSpc>
                <a:spcPts val="1512"/>
              </a:lnSpc>
              <a:spcBef>
                <a:spcPts val="300"/>
              </a:spcBef>
              <a:spcAft>
                <a:spcPts val="300"/>
              </a:spcAft>
              <a:buNone/>
            </a:pPr>
            <a:r>
              <a:rPr lang="en-US" sz="1080" b="1" dirty="0">
                <a:solidFill>
                  <a:srgbClr val="FFFFFF"/>
                </a:solidFill>
                <a:latin typeface="Arial" pitchFamily="34" charset="0"/>
                <a:ea typeface="Arial" pitchFamily="34" charset="-122"/>
                <a:cs typeface="Arial" pitchFamily="34" charset="-120"/>
              </a:rPr>
              <a:t>Monitor &amp; Adapt</a:t>
            </a:r>
            <a:endParaRPr lang="en-US" sz="1080" dirty="0"/>
          </a:p>
        </p:txBody>
      </p:sp>
      <p:sp>
        <p:nvSpPr>
          <p:cNvPr id="27" name="Text 25"/>
          <p:cNvSpPr/>
          <p:nvPr/>
        </p:nvSpPr>
        <p:spPr>
          <a:xfrm>
            <a:off x="6127080" y="3288357"/>
            <a:ext cx="2325192" cy="170557"/>
          </a:xfrm>
          <a:prstGeom prst="rect">
            <a:avLst/>
          </a:prstGeom>
          <a:noFill/>
          <a:ln/>
        </p:spPr>
        <p:txBody>
          <a:bodyPr wrap="square" lIns="0" tIns="0" rIns="0" bIns="0" rtlCol="0" anchor="t"/>
          <a:lstStyle/>
          <a:p>
            <a:pPr algn="ctr" indent="0" marL="0">
              <a:lnSpc>
                <a:spcPts val="1344"/>
              </a:lnSpc>
              <a:spcBef>
                <a:spcPts val="600"/>
              </a:spcBef>
              <a:spcAft>
                <a:spcPts val="300"/>
              </a:spcAft>
              <a:buNone/>
            </a:pPr>
            <a:r>
              <a:rPr lang="en-US" sz="960" dirty="0">
                <a:solidFill>
                  <a:srgbClr val="FFFFFF"/>
                </a:solidFill>
                <a:latin typeface="Arial" pitchFamily="34" charset="0"/>
                <a:ea typeface="Arial" pitchFamily="34" charset="-122"/>
                <a:cs typeface="Arial" pitchFamily="34" charset="-120"/>
              </a:rPr>
              <a:t>Continuously evaluate and improve</a:t>
            </a:r>
            <a:endParaRPr lang="en-US" sz="960" dirty="0"/>
          </a:p>
        </p:txBody>
      </p:sp>
      <p:sp>
        <p:nvSpPr>
          <p:cNvPr id="28" name="Text 26"/>
          <p:cNvSpPr/>
          <p:nvPr/>
        </p:nvSpPr>
        <p:spPr>
          <a:xfrm>
            <a:off x="571500" y="3982789"/>
            <a:ext cx="8001000" cy="824508"/>
          </a:xfrm>
          <a:prstGeom prst="roundRect">
            <a:avLst>
              <a:gd name="adj" fmla="val 5776"/>
            </a:avLst>
          </a:prstGeom>
          <a:solidFill>
            <a:srgbClr val="F8F9FA"/>
          </a:solidFill>
          <a:ln/>
        </p:spPr>
        <p:txBody>
          <a:bodyPr wrap="square" rtlCol="0" anchor="ctr"/>
          <a:lstStyle/>
          <a:p>
            <a:pPr indent="0" marL="0">
              <a:buNone/>
            </a:pPr>
            <a:endParaRPr lang="en-US" dirty="0"/>
          </a:p>
        </p:txBody>
      </p:sp>
      <p:sp>
        <p:nvSpPr>
          <p:cNvPr id="29" name="Shape 27"/>
          <p:cNvSpPr/>
          <p:nvPr/>
        </p:nvSpPr>
        <p:spPr>
          <a:xfrm>
            <a:off x="595313" y="3982789"/>
            <a:ext cx="0" cy="824508"/>
          </a:xfrm>
          <a:prstGeom prst="line">
            <a:avLst/>
          </a:prstGeom>
          <a:noFill/>
          <a:ln w="47625">
            <a:solidFill>
              <a:srgbClr val="1C4E80"/>
            </a:solidFill>
            <a:prstDash val="solid"/>
          </a:ln>
        </p:spPr>
      </p:sp>
      <p:sp>
        <p:nvSpPr>
          <p:cNvPr id="30" name="Text 28"/>
          <p:cNvSpPr/>
          <p:nvPr/>
        </p:nvSpPr>
        <p:spPr>
          <a:xfrm>
            <a:off x="790575" y="4192339"/>
            <a:ext cx="7762684" cy="405408"/>
          </a:xfrm>
          <a:prstGeom prst="rect">
            <a:avLst/>
          </a:prstGeom>
          <a:noFill/>
          <a:ln/>
        </p:spPr>
        <p:txBody>
          <a:bodyPr wrap="square" lIns="0" tIns="0" rIns="0" bIns="0" rtlCol="0" anchor="t"/>
          <a:lstStyle/>
          <a:p>
            <a:pPr algn="l" indent="0" marL="0">
              <a:lnSpc>
                <a:spcPts val="1596"/>
              </a:lnSpc>
              <a:spcBef>
                <a:spcPts val="300"/>
              </a:spcBef>
              <a:spcAft>
                <a:spcPts val="300"/>
              </a:spcAft>
              <a:buNone/>
            </a:pPr>
            <a:r>
              <a:rPr lang="en-US" sz="1140" b="1" dirty="0">
                <a:solidFill>
                  <a:srgbClr val="555555"/>
                </a:solidFill>
                <a:latin typeface="Arial" pitchFamily="34" charset="0"/>
                <a:ea typeface="Arial" pitchFamily="34" charset="-122"/>
                <a:cs typeface="Arial" pitchFamily="34" charset="-120"/>
              </a:rPr>
              <a:t>Key Principle:</a:t>
            </a:r>
            <a:pPr algn="l" indent="0" marL="0">
              <a:lnSpc>
                <a:spcPts val="1596"/>
              </a:lnSpc>
              <a:spcBef>
                <a:spcPts val="300"/>
              </a:spcBef>
              <a:spcAft>
                <a:spcPts val="300"/>
              </a:spcAft>
              <a:buNone/>
            </a:pPr>
            <a:r>
              <a:rPr lang="en-US" sz="1140" dirty="0">
                <a:solidFill>
                  <a:srgbClr val="555555"/>
                </a:solidFill>
                <a:latin typeface="Arial" pitchFamily="34" charset="0"/>
                <a:ea typeface="Arial" pitchFamily="34" charset="-122"/>
                <a:cs typeface="Arial" pitchFamily="34" charset="-120"/>
              </a:rPr>
              <a:t> The solution is not solely technological but cultural. Building a strong ethos of academic integrity and ensuring students understand the value of genuine learning are equally crucial.</a:t>
            </a:r>
            <a:endParaRPr lang="en-US" sz="1140" dirty="0"/>
          </a:p>
        </p:txBody>
      </p:sp>
      <p:sp>
        <p:nvSpPr>
          <p:cNvPr id="31" name="Text 29"/>
          <p:cNvSpPr/>
          <p:nvPr/>
        </p:nvSpPr>
        <p:spPr>
          <a:xfrm>
            <a:off x="571500" y="4959697"/>
            <a:ext cx="8161020" cy="170557"/>
          </a:xfrm>
          <a:prstGeom prst="rect">
            <a:avLst/>
          </a:prstGeom>
          <a:noFill/>
          <a:ln/>
        </p:spPr>
        <p:txBody>
          <a:bodyPr wrap="square" lIns="0" tIns="0" rIns="0" bIns="0" rtlCol="0" anchor="t"/>
          <a:lstStyle/>
          <a:p>
            <a:pPr algn="l" indent="0" marL="0">
              <a:lnSpc>
                <a:spcPts val="1344"/>
              </a:lnSpc>
              <a:spcAft>
                <a:spcPts val="300"/>
              </a:spcAft>
              <a:buNone/>
            </a:pPr>
            <a:r>
              <a:rPr lang="en-US" sz="960" dirty="0">
                <a:solidFill>
                  <a:srgbClr val="737373"/>
                </a:solidFill>
                <a:latin typeface="Arial" pitchFamily="34" charset="0"/>
                <a:ea typeface="Arial" pitchFamily="34" charset="-122"/>
                <a:cs typeface="Arial" pitchFamily="34" charset="-120"/>
              </a:rPr>
              <a:t>Source: Bombaerts et al., 2023</a:t>
            </a:r>
            <a:endParaRPr lang="en-US" sz="9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656289" y="237083"/>
            <a:ext cx="5831273" cy="423267"/>
          </a:xfrm>
          <a:prstGeom prst="rect">
            <a:avLst/>
          </a:prstGeom>
          <a:noFill/>
          <a:ln/>
        </p:spPr>
        <p:txBody>
          <a:bodyPr wrap="square" lIns="0" tIns="0" rIns="0" bIns="0" rtlCol="0" anchor="t"/>
          <a:lstStyle/>
          <a:p>
            <a:pPr algn="ctr" indent="0" marL="0">
              <a:lnSpc>
                <a:spcPts val="3333"/>
              </a:lnSpc>
              <a:spcAft>
                <a:spcPts val="2250"/>
              </a:spcAft>
              <a:buNone/>
            </a:pPr>
            <a:r>
              <a:rPr lang="en-US" sz="3000" b="1" dirty="0">
                <a:solidFill>
                  <a:srgbClr val="FFFFFF"/>
                </a:solidFill>
                <a:latin typeface="Arial" pitchFamily="34" charset="0"/>
                <a:ea typeface="Arial" pitchFamily="34" charset="-122"/>
                <a:cs typeface="Arial" pitchFamily="34" charset="-120"/>
              </a:rPr>
              <a:t>Key Takeaways &amp; Call to Action</a:t>
            </a:r>
            <a:endParaRPr lang="en-US" sz="3000" dirty="0"/>
          </a:p>
        </p:txBody>
      </p:sp>
      <p:sp>
        <p:nvSpPr>
          <p:cNvPr id="3" name="Text 1"/>
          <p:cNvSpPr/>
          <p:nvPr/>
        </p:nvSpPr>
        <p:spPr>
          <a:xfrm>
            <a:off x="571500" y="1098500"/>
            <a:ext cx="8001000" cy="3807916"/>
          </a:xfrm>
          <a:prstGeom prst="roundRect">
            <a:avLst>
              <a:gd name="adj" fmla="val 2501"/>
            </a:avLst>
          </a:prstGeom>
          <a:solidFill>
            <a:srgbClr val="FFFFFF">
              <a:alpha val="95000"/>
            </a:srgbClr>
          </a:solidFill>
          <a:ln/>
        </p:spPr>
        <p:txBody>
          <a:bodyPr wrap="square" rtlCol="0" anchor="ctr"/>
          <a:lstStyle/>
          <a:p>
            <a:pPr indent="0" marL="0">
              <a:buNone/>
            </a:pPr>
            <a:endParaRPr lang="en-US" dirty="0"/>
          </a:p>
        </p:txBody>
      </p:sp>
      <p:sp>
        <p:nvSpPr>
          <p:cNvPr id="4" name="Text 2"/>
          <p:cNvSpPr/>
          <p:nvPr/>
        </p:nvSpPr>
        <p:spPr>
          <a:xfrm>
            <a:off x="831533" y="1431875"/>
            <a:ext cx="7480935" cy="255984"/>
          </a:xfrm>
          <a:prstGeom prst="rect">
            <a:avLst/>
          </a:prstGeom>
          <a:noFill/>
          <a:ln/>
        </p:spPr>
        <p:txBody>
          <a:bodyPr wrap="square" lIns="0" tIns="0" rIns="0" bIns="0" rtlCol="0" anchor="t"/>
          <a:lstStyle/>
          <a:p>
            <a:pPr algn="ctr" indent="0" marL="0">
              <a:lnSpc>
                <a:spcPts val="2016"/>
              </a:lnSpc>
              <a:spcAft>
                <a:spcPts val="1500"/>
              </a:spcAft>
              <a:buNone/>
            </a:pPr>
            <a:r>
              <a:rPr lang="en-US" sz="1680" b="1" dirty="0">
                <a:solidFill>
                  <a:srgbClr val="1C4E80"/>
                </a:solidFill>
                <a:latin typeface="Arial" pitchFamily="34" charset="0"/>
                <a:ea typeface="Arial" pitchFamily="34" charset="-122"/>
                <a:cs typeface="Arial" pitchFamily="34" charset="-120"/>
              </a:rPr>
              <a:t>The Path Forward</a:t>
            </a:r>
            <a:endParaRPr lang="en-US" sz="1680" dirty="0"/>
          </a:p>
        </p:txBody>
      </p:sp>
      <p:sp>
        <p:nvSpPr>
          <p:cNvPr id="5" name="Text 3"/>
          <p:cNvSpPr/>
          <p:nvPr/>
        </p:nvSpPr>
        <p:spPr>
          <a:xfrm>
            <a:off x="904875" y="1878360"/>
            <a:ext cx="7334250" cy="1485900"/>
          </a:xfrm>
          <a:prstGeom prst="rect">
            <a:avLst/>
          </a:prstGeom>
          <a:noFill/>
          <a:ln/>
        </p:spPr>
        <p:txBody>
          <a:bodyPr wrap="square" lIns="80010" tIns="0" rIns="0" bIns="0" rtlCol="0" anchor="t"/>
          <a:lstStyle/>
          <a:p>
            <a:pPr algn="ctr" marL="80010" indent="-8001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Embrace, don't resist:</a:t>
            </a:r>
            <a:pPr algn="ctr" indent="0" marL="0">
              <a:lnSpc>
                <a:spcPts val="2100"/>
              </a:lnSpc>
              <a:buNone/>
            </a:pPr>
            <a:r>
              <a:rPr lang="en-US" sz="1350" dirty="0">
                <a:solidFill>
                  <a:srgbClr val="1D1D1D"/>
                </a:solidFill>
                <a:latin typeface="Arial" pitchFamily="34" charset="0"/>
                <a:ea typeface="Arial" pitchFamily="34" charset="-122"/>
                <a:cs typeface="Arial" pitchFamily="34" charset="-120"/>
              </a:rPr>
              <a:t> AI is here to stay; focus on adaptation</a:t>
            </a:r>
            <a:endParaRPr lang="en-US" sz="1350" dirty="0"/>
          </a:p>
          <a:p>
            <a:pPr algn="ctr" marL="80010" indent="-8001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Raise the bar:</a:t>
            </a:r>
            <a:pPr algn="ctr" indent="0" marL="0">
              <a:lnSpc>
                <a:spcPts val="2100"/>
              </a:lnSpc>
              <a:buNone/>
            </a:pPr>
            <a:r>
              <a:rPr lang="en-US" sz="1350" dirty="0">
                <a:solidFill>
                  <a:srgbClr val="1D1D1D"/>
                </a:solidFill>
                <a:latin typeface="Arial" pitchFamily="34" charset="0"/>
                <a:ea typeface="Arial" pitchFamily="34" charset="-122"/>
                <a:cs typeface="Arial" pitchFamily="34" charset="-120"/>
              </a:rPr>
              <a:t> Make assessments harder, not detection stricter</a:t>
            </a:r>
            <a:endParaRPr lang="en-US" sz="1350" dirty="0"/>
          </a:p>
          <a:p>
            <a:pPr algn="ctr" marL="80010" indent="-8001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Focus on questions:</a:t>
            </a:r>
            <a:pPr algn="ctr" indent="0" marL="0">
              <a:lnSpc>
                <a:spcPts val="2100"/>
              </a:lnSpc>
              <a:buNone/>
            </a:pPr>
            <a:r>
              <a:rPr lang="en-US" sz="1350" dirty="0">
                <a:solidFill>
                  <a:srgbClr val="1D1D1D"/>
                </a:solidFill>
                <a:latin typeface="Arial" pitchFamily="34" charset="0"/>
                <a:ea typeface="Arial" pitchFamily="34" charset="-122"/>
                <a:cs typeface="Arial" pitchFamily="34" charset="-120"/>
              </a:rPr>
              <a:t> Teach students how to ask, not just answer</a:t>
            </a:r>
            <a:endParaRPr lang="en-US" sz="1350" dirty="0"/>
          </a:p>
          <a:p>
            <a:pPr algn="ctr" marL="80010" indent="-8001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Develop master learners:</a:t>
            </a:r>
            <a:pPr algn="ctr" indent="0" marL="0">
              <a:lnSpc>
                <a:spcPts val="2100"/>
              </a:lnSpc>
              <a:buNone/>
            </a:pPr>
            <a:r>
              <a:rPr lang="en-US" sz="1350" dirty="0">
                <a:solidFill>
                  <a:srgbClr val="1D1D1D"/>
                </a:solidFill>
                <a:latin typeface="Arial" pitchFamily="34" charset="0"/>
                <a:ea typeface="Arial" pitchFamily="34" charset="-122"/>
                <a:cs typeface="Arial" pitchFamily="34" charset="-120"/>
              </a:rPr>
              <a:t> Adaptability over specific skills</a:t>
            </a:r>
            <a:endParaRPr lang="en-US" sz="1350" dirty="0"/>
          </a:p>
          <a:p>
            <a:pPr algn="ctr" marL="80010" indent="-80010">
              <a:lnSpc>
                <a:spcPts val="2100"/>
              </a:lnSpc>
              <a:buSzPct val="100000"/>
              <a:buChar char="•"/>
            </a:pPr>
            <a:r>
              <a:rPr lang="en-US" sz="1350" b="1" dirty="0">
                <a:solidFill>
                  <a:srgbClr val="1D1D1D"/>
                </a:solidFill>
                <a:latin typeface="Arial" pitchFamily="34" charset="0"/>
                <a:ea typeface="Arial" pitchFamily="34" charset="-122"/>
                <a:cs typeface="Arial" pitchFamily="34" charset="-120"/>
              </a:rPr>
              <a:t>Leverage opportunities:</a:t>
            </a:r>
            <a:pPr algn="ctr" indent="0" marL="0">
              <a:lnSpc>
                <a:spcPts val="2100"/>
              </a:lnSpc>
              <a:buNone/>
            </a:pPr>
            <a:r>
              <a:rPr lang="en-US" sz="1350" dirty="0">
                <a:solidFill>
                  <a:srgbClr val="1D1D1D"/>
                </a:solidFill>
                <a:latin typeface="Arial" pitchFamily="34" charset="0"/>
                <a:ea typeface="Arial" pitchFamily="34" charset="-122"/>
                <a:cs typeface="Arial" pitchFamily="34" charset="-120"/>
              </a:rPr>
              <a:t> Accelerate research and personalize learning</a:t>
            </a:r>
            <a:endParaRPr lang="en-US" sz="1350" dirty="0"/>
          </a:p>
        </p:txBody>
      </p:sp>
      <p:sp>
        <p:nvSpPr>
          <p:cNvPr id="6" name="Text 4"/>
          <p:cNvSpPr/>
          <p:nvPr/>
        </p:nvSpPr>
        <p:spPr>
          <a:xfrm>
            <a:off x="904875" y="3602385"/>
            <a:ext cx="7334250" cy="970657"/>
          </a:xfrm>
          <a:prstGeom prst="roundRect">
            <a:avLst>
              <a:gd name="adj" fmla="val 7850"/>
            </a:avLst>
          </a:prstGeom>
          <a:solidFill>
            <a:srgbClr val="2ECC71"/>
          </a:solidFill>
          <a:ln/>
        </p:spPr>
        <p:txBody>
          <a:bodyPr wrap="square" rtlCol="0" anchor="ctr"/>
          <a:lstStyle/>
          <a:p>
            <a:pPr indent="0" marL="0">
              <a:buNone/>
            </a:pPr>
            <a:endParaRPr lang="en-US" dirty="0"/>
          </a:p>
        </p:txBody>
      </p:sp>
      <p:sp>
        <p:nvSpPr>
          <p:cNvPr id="7" name="Text 5"/>
          <p:cNvSpPr/>
          <p:nvPr/>
        </p:nvSpPr>
        <p:spPr>
          <a:xfrm>
            <a:off x="1025843" y="3830985"/>
            <a:ext cx="7092315" cy="234553"/>
          </a:xfrm>
          <a:prstGeom prst="rect">
            <a:avLst/>
          </a:prstGeom>
          <a:noFill/>
          <a:ln/>
        </p:spPr>
        <p:txBody>
          <a:bodyPr wrap="square" lIns="0" tIns="0" rIns="0" bIns="0" rtlCol="0" anchor="t"/>
          <a:lstStyle/>
          <a:p>
            <a:pPr algn="ctr" indent="0" marL="0">
              <a:lnSpc>
                <a:spcPts val="1848"/>
              </a:lnSpc>
              <a:spcBef>
                <a:spcPts val="300"/>
              </a:spcBef>
              <a:spcAft>
                <a:spcPts val="600"/>
              </a:spcAft>
              <a:buNone/>
            </a:pPr>
            <a:r>
              <a:rPr lang="en-US" sz="1320" b="1" dirty="0">
                <a:solidFill>
                  <a:srgbClr val="FFFFFF"/>
                </a:solidFill>
                <a:latin typeface="Arial" pitchFamily="34" charset="0"/>
                <a:ea typeface="Arial" pitchFamily="34" charset="-122"/>
                <a:cs typeface="Arial" pitchFamily="34" charset="-120"/>
              </a:rPr>
              <a:t>The Challenge</a:t>
            </a:r>
            <a:endParaRPr lang="en-US" sz="1320" dirty="0"/>
          </a:p>
        </p:txBody>
      </p:sp>
      <p:sp>
        <p:nvSpPr>
          <p:cNvPr id="8" name="Text 6"/>
          <p:cNvSpPr/>
          <p:nvPr/>
        </p:nvSpPr>
        <p:spPr>
          <a:xfrm>
            <a:off x="1025843" y="4141738"/>
            <a:ext cx="7092315" cy="202704"/>
          </a:xfrm>
          <a:prstGeom prst="rect">
            <a:avLst/>
          </a:prstGeom>
          <a:noFill/>
          <a:ln/>
        </p:spPr>
        <p:txBody>
          <a:bodyPr wrap="square" lIns="0" tIns="0" rIns="0" bIns="0" rtlCol="0" anchor="t"/>
          <a:lstStyle/>
          <a:p>
            <a:pPr algn="ctr" indent="0" marL="0">
              <a:lnSpc>
                <a:spcPts val="1596"/>
              </a:lnSpc>
              <a:spcBef>
                <a:spcPts val="300"/>
              </a:spcBef>
              <a:spcAft>
                <a:spcPts val="300"/>
              </a:spcAft>
              <a:buNone/>
            </a:pPr>
            <a:r>
              <a:rPr lang="en-US" sz="1140" dirty="0">
                <a:solidFill>
                  <a:srgbClr val="FFFFFF"/>
                </a:solidFill>
                <a:latin typeface="Arial" pitchFamily="34" charset="0"/>
                <a:ea typeface="Arial" pitchFamily="34" charset="-122"/>
                <a:cs typeface="Arial" pitchFamily="34" charset="-120"/>
              </a:rPr>
              <a:t>Strike the right balance—leverage AI's potential while maintaining human connection and genuine learning.</a:t>
            </a:r>
            <a:endParaRPr lang="en-US" sz="11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23875" y="809476"/>
            <a:ext cx="8096250" cy="0"/>
          </a:xfrm>
          <a:prstGeom prst="line">
            <a:avLst/>
          </a:prstGeom>
          <a:noFill/>
          <a:ln w="38100">
            <a:solidFill>
              <a:srgbClr val="5EA8A7"/>
            </a:solidFill>
            <a:prstDash val="solid"/>
          </a:ln>
        </p:spPr>
      </p:sp>
      <p:sp>
        <p:nvSpPr>
          <p:cNvPr id="3" name="Text 1"/>
          <p:cNvSpPr/>
          <p:nvPr/>
        </p:nvSpPr>
        <p:spPr>
          <a:xfrm>
            <a:off x="523875" y="390525"/>
            <a:ext cx="4138803" cy="399901"/>
          </a:xfrm>
          <a:prstGeom prst="rect">
            <a:avLst/>
          </a:prstGeom>
          <a:noFill/>
          <a:ln/>
        </p:spPr>
        <p:txBody>
          <a:bodyPr wrap="square" lIns="0" tIns="0" rIns="0" bIns="95250" rtlCol="0" anchor="t"/>
          <a:lstStyle/>
          <a:p>
            <a:pPr algn="l" indent="0" marL="0">
              <a:lnSpc>
                <a:spcPts val="2400"/>
              </a:lnSpc>
              <a:buNone/>
            </a:pPr>
            <a:r>
              <a:rPr lang="en-US" sz="2160" b="1" dirty="0">
                <a:solidFill>
                  <a:srgbClr val="1C4E80"/>
                </a:solidFill>
                <a:latin typeface="Arial" pitchFamily="34" charset="0"/>
                <a:ea typeface="Arial" pitchFamily="34" charset="-122"/>
                <a:cs typeface="Arial" pitchFamily="34" charset="-120"/>
              </a:rPr>
              <a:t>References (1 of 2)</a:t>
            </a:r>
            <a:endParaRPr lang="en-US" sz="2160" dirty="0"/>
          </a:p>
        </p:txBody>
      </p:sp>
      <p:sp>
        <p:nvSpPr>
          <p:cNvPr id="4" name="Text 2"/>
          <p:cNvSpPr/>
          <p:nvPr/>
        </p:nvSpPr>
        <p:spPr>
          <a:xfrm>
            <a:off x="523875" y="1209526"/>
            <a:ext cx="8258175" cy="5334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Ateeq, A., et al. (2024). AI in education: Implications for academic integrity. </a:t>
            </a:r>
            <a:pPr algn="l" indent="0" marL="0">
              <a:lnSpc>
                <a:spcPts val="2100"/>
              </a:lnSpc>
              <a:spcBef>
                <a:spcPts val="300"/>
              </a:spcBef>
              <a:spcAft>
                <a:spcPts val="300"/>
              </a:spcAft>
              <a:buNone/>
            </a:pPr>
            <a:r>
              <a:rPr lang="en-US" sz="1500" i="1" dirty="0">
                <a:solidFill>
                  <a:srgbClr val="1D1D1D"/>
                </a:solidFill>
                <a:latin typeface="Arial" pitchFamily="34" charset="0"/>
                <a:ea typeface="Arial" pitchFamily="34" charset="-122"/>
                <a:cs typeface="Arial" pitchFamily="34" charset="-120"/>
              </a:rPr>
              <a:t>Frontiers in Education</a:t>
            </a:r>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 9.</a:t>
            </a:r>
            <a:endParaRPr lang="en-US" sz="1500" dirty="0"/>
          </a:p>
        </p:txBody>
      </p:sp>
      <p:sp>
        <p:nvSpPr>
          <p:cNvPr id="5" name="Text 3"/>
          <p:cNvSpPr/>
          <p:nvPr/>
        </p:nvSpPr>
        <p:spPr>
          <a:xfrm>
            <a:off x="523875" y="1895326"/>
            <a:ext cx="8258175" cy="5334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Chan, C. K. Y. (2024). Students' perceptions of 'AI-giarism'. </a:t>
            </a:r>
            <a:pPr algn="l" indent="0" marL="0">
              <a:lnSpc>
                <a:spcPts val="2100"/>
              </a:lnSpc>
              <a:spcBef>
                <a:spcPts val="300"/>
              </a:spcBef>
              <a:spcAft>
                <a:spcPts val="300"/>
              </a:spcAft>
              <a:buNone/>
            </a:pPr>
            <a:r>
              <a:rPr lang="en-US" sz="1500" i="1" dirty="0">
                <a:solidFill>
                  <a:srgbClr val="1D1D1D"/>
                </a:solidFill>
                <a:latin typeface="Arial" pitchFamily="34" charset="0"/>
                <a:ea typeface="Arial" pitchFamily="34" charset="-122"/>
                <a:cs typeface="Arial" pitchFamily="34" charset="-120"/>
              </a:rPr>
              <a:t>Education and Information Technologies</a:t>
            </a:r>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a:t>
            </a:r>
            <a:endParaRPr lang="en-US" sz="1500" dirty="0"/>
          </a:p>
        </p:txBody>
      </p:sp>
      <p:sp>
        <p:nvSpPr>
          <p:cNvPr id="6" name="Text 4"/>
          <p:cNvSpPr/>
          <p:nvPr/>
        </p:nvSpPr>
        <p:spPr>
          <a:xfrm>
            <a:off x="523875" y="2581126"/>
            <a:ext cx="825817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Crow, M. (2025). Interview on AI in Higher Education. Arizona State University.</a:t>
            </a:r>
            <a:endParaRPr lang="en-US" sz="1500" dirty="0"/>
          </a:p>
        </p:txBody>
      </p:sp>
      <p:sp>
        <p:nvSpPr>
          <p:cNvPr id="7" name="Text 5"/>
          <p:cNvSpPr/>
          <p:nvPr/>
        </p:nvSpPr>
        <p:spPr>
          <a:xfrm>
            <a:off x="523875" y="3000226"/>
            <a:ext cx="825817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Demartini, C. G., et al. (2024). AI improvements to adaptive learning. </a:t>
            </a:r>
            <a:pPr algn="l" indent="0" marL="0">
              <a:lnSpc>
                <a:spcPts val="2100"/>
              </a:lnSpc>
              <a:spcBef>
                <a:spcPts val="300"/>
              </a:spcBef>
              <a:spcAft>
                <a:spcPts val="300"/>
              </a:spcAft>
              <a:buNone/>
            </a:pPr>
            <a:r>
              <a:rPr lang="en-US" sz="1500" i="1" dirty="0">
                <a:solidFill>
                  <a:srgbClr val="1D1D1D"/>
                </a:solidFill>
                <a:latin typeface="Arial" pitchFamily="34" charset="0"/>
                <a:ea typeface="Arial" pitchFamily="34" charset="-122"/>
                <a:cs typeface="Arial" pitchFamily="34" charset="-120"/>
              </a:rPr>
              <a:t>Sustainability</a:t>
            </a:r>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 16, 1347.</a:t>
            </a:r>
            <a:endParaRPr lang="en-US" sz="1500" dirty="0"/>
          </a:p>
        </p:txBody>
      </p:sp>
      <p:sp>
        <p:nvSpPr>
          <p:cNvPr id="8" name="Text 6"/>
          <p:cNvSpPr/>
          <p:nvPr/>
        </p:nvSpPr>
        <p:spPr>
          <a:xfrm>
            <a:off x="523875" y="3419326"/>
            <a:ext cx="825817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Deng, X., Fan, M., &amp; Gerlich, R. N. (2024-2025). Studies on cognitive offloading with AI.</a:t>
            </a:r>
            <a:endParaRPr lang="en-US" sz="1500" dirty="0"/>
          </a:p>
        </p:txBody>
      </p:sp>
      <p:sp>
        <p:nvSpPr>
          <p:cNvPr id="9" name="Text 7"/>
          <p:cNvSpPr/>
          <p:nvPr/>
        </p:nvSpPr>
        <p:spPr>
          <a:xfrm>
            <a:off x="523875" y="3838426"/>
            <a:ext cx="825817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Dwivedi, Y. K., et al. (2023). Categorizing AI tools in education.</a:t>
            </a:r>
            <a:endParaRPr lang="en-US" sz="1500" dirty="0"/>
          </a:p>
        </p:txBody>
      </p:sp>
      <p:sp>
        <p:nvSpPr>
          <p:cNvPr id="10" name="Text 8"/>
          <p:cNvSpPr/>
          <p:nvPr/>
        </p:nvSpPr>
        <p:spPr>
          <a:xfrm>
            <a:off x="523875" y="4257526"/>
            <a:ext cx="825817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Francis, N. J., Jones, S., &amp; Smith, D. P. (2024). GenAI in higher education. </a:t>
            </a:r>
            <a:pPr algn="l" indent="0" marL="0">
              <a:lnSpc>
                <a:spcPts val="2100"/>
              </a:lnSpc>
              <a:spcBef>
                <a:spcPts val="300"/>
              </a:spcBef>
              <a:spcAft>
                <a:spcPts val="300"/>
              </a:spcAft>
              <a:buNone/>
            </a:pPr>
            <a:r>
              <a:rPr lang="en-US" sz="1500" i="1" dirty="0">
                <a:solidFill>
                  <a:srgbClr val="1D1D1D"/>
                </a:solidFill>
                <a:latin typeface="Arial" pitchFamily="34" charset="0"/>
                <a:ea typeface="Arial" pitchFamily="34" charset="-122"/>
                <a:cs typeface="Arial" pitchFamily="34" charset="-120"/>
              </a:rPr>
              <a:t>BJBS</a:t>
            </a:r>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 81.</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23875" y="814239"/>
            <a:ext cx="8096250" cy="0"/>
          </a:xfrm>
          <a:prstGeom prst="line">
            <a:avLst/>
          </a:prstGeom>
          <a:noFill/>
          <a:ln w="38100">
            <a:solidFill>
              <a:srgbClr val="5EA8A7"/>
            </a:solidFill>
            <a:prstDash val="solid"/>
          </a:ln>
        </p:spPr>
      </p:sp>
      <p:sp>
        <p:nvSpPr>
          <p:cNvPr id="3" name="Text 1"/>
          <p:cNvSpPr/>
          <p:nvPr/>
        </p:nvSpPr>
        <p:spPr>
          <a:xfrm>
            <a:off x="523875" y="395288"/>
            <a:ext cx="4138803" cy="399901"/>
          </a:xfrm>
          <a:prstGeom prst="rect">
            <a:avLst/>
          </a:prstGeom>
          <a:noFill/>
          <a:ln/>
        </p:spPr>
        <p:txBody>
          <a:bodyPr wrap="square" lIns="0" tIns="0" rIns="0" bIns="95250" rtlCol="0" anchor="t"/>
          <a:lstStyle/>
          <a:p>
            <a:pPr algn="l" indent="0" marL="0">
              <a:lnSpc>
                <a:spcPts val="2400"/>
              </a:lnSpc>
              <a:buNone/>
            </a:pPr>
            <a:r>
              <a:rPr lang="en-US" sz="2160" b="1" dirty="0">
                <a:solidFill>
                  <a:srgbClr val="1C4E80"/>
                </a:solidFill>
                <a:latin typeface="Arial" pitchFamily="34" charset="0"/>
                <a:ea typeface="Arial" pitchFamily="34" charset="-122"/>
                <a:cs typeface="Arial" pitchFamily="34" charset="-120"/>
              </a:rPr>
              <a:t>References (2 of 2)</a:t>
            </a:r>
            <a:endParaRPr lang="en-US" sz="2160" dirty="0"/>
          </a:p>
        </p:txBody>
      </p:sp>
      <p:sp>
        <p:nvSpPr>
          <p:cNvPr id="4" name="Text 2"/>
          <p:cNvSpPr/>
          <p:nvPr/>
        </p:nvSpPr>
        <p:spPr>
          <a:xfrm>
            <a:off x="523875" y="1214289"/>
            <a:ext cx="825817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Kaltenboeck, M., et al. (2022). Shift to application-centric assessments.</a:t>
            </a:r>
            <a:endParaRPr lang="en-US" sz="1500" dirty="0"/>
          </a:p>
        </p:txBody>
      </p:sp>
      <p:sp>
        <p:nvSpPr>
          <p:cNvPr id="5" name="Text 3"/>
          <p:cNvSpPr/>
          <p:nvPr/>
        </p:nvSpPr>
        <p:spPr>
          <a:xfrm>
            <a:off x="523875" y="1633389"/>
            <a:ext cx="825817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Khosravi, H., et al. (2022). The burgeoning AI-driven essay mills industry.</a:t>
            </a:r>
            <a:endParaRPr lang="en-US" sz="1500" dirty="0"/>
          </a:p>
        </p:txBody>
      </p:sp>
      <p:sp>
        <p:nvSpPr>
          <p:cNvPr id="6" name="Text 4"/>
          <p:cNvSpPr/>
          <p:nvPr/>
        </p:nvSpPr>
        <p:spPr>
          <a:xfrm>
            <a:off x="523875" y="2052489"/>
            <a:ext cx="825817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Lund, B. D., et al. (2025). AI and academic integrity. </a:t>
            </a:r>
            <a:pPr algn="l" indent="0" marL="0">
              <a:lnSpc>
                <a:spcPts val="2100"/>
              </a:lnSpc>
              <a:spcBef>
                <a:spcPts val="300"/>
              </a:spcBef>
              <a:spcAft>
                <a:spcPts val="300"/>
              </a:spcAft>
              <a:buNone/>
            </a:pPr>
            <a:r>
              <a:rPr lang="en-US" sz="1500" i="1" dirty="0">
                <a:solidFill>
                  <a:srgbClr val="1D1D1D"/>
                </a:solidFill>
                <a:latin typeface="Arial" pitchFamily="34" charset="0"/>
                <a:ea typeface="Arial" pitchFamily="34" charset="-122"/>
                <a:cs typeface="Arial" pitchFamily="34" charset="-120"/>
              </a:rPr>
              <a:t>Journal of Academic Ethics</a:t>
            </a:r>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a:t>
            </a:r>
            <a:endParaRPr lang="en-US" sz="1500" dirty="0"/>
          </a:p>
        </p:txBody>
      </p:sp>
      <p:sp>
        <p:nvSpPr>
          <p:cNvPr id="7" name="Text 5"/>
          <p:cNvSpPr/>
          <p:nvPr/>
        </p:nvSpPr>
        <p:spPr>
          <a:xfrm>
            <a:off x="523875" y="2471589"/>
            <a:ext cx="825817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Rudolph, J., et al. (2023). Detection tools for AI-generated content.</a:t>
            </a:r>
            <a:endParaRPr lang="en-US" sz="1500" dirty="0"/>
          </a:p>
        </p:txBody>
      </p:sp>
      <p:sp>
        <p:nvSpPr>
          <p:cNvPr id="8" name="Text 6"/>
          <p:cNvSpPr/>
          <p:nvPr/>
        </p:nvSpPr>
        <p:spPr>
          <a:xfrm>
            <a:off x="523875" y="2890689"/>
            <a:ext cx="825817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Vanderbeek, L. (2024). Three approaches to academic integrity. Wiley Survey.</a:t>
            </a:r>
            <a:endParaRPr lang="en-US" sz="1500" dirty="0"/>
          </a:p>
        </p:txBody>
      </p:sp>
      <p:sp>
        <p:nvSpPr>
          <p:cNvPr id="9" name="Text 7"/>
          <p:cNvSpPr/>
          <p:nvPr/>
        </p:nvSpPr>
        <p:spPr>
          <a:xfrm>
            <a:off x="523875" y="3309789"/>
            <a:ext cx="825817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Wiley Survey (2024). AI impact on higher education. Inside Higher Ed.</a:t>
            </a:r>
            <a:endParaRPr lang="en-US" sz="1500" dirty="0"/>
          </a:p>
        </p:txBody>
      </p:sp>
      <p:sp>
        <p:nvSpPr>
          <p:cNvPr id="10" name="Text 8"/>
          <p:cNvSpPr/>
          <p:nvPr/>
        </p:nvSpPr>
        <p:spPr>
          <a:xfrm>
            <a:off x="523875" y="3728889"/>
            <a:ext cx="8258175"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1D1D1D"/>
                </a:solidFill>
                <a:latin typeface="Arial" pitchFamily="34" charset="0"/>
                <a:ea typeface="Arial" pitchFamily="34" charset="-122"/>
                <a:cs typeface="Arial" pitchFamily="34" charset="-120"/>
              </a:rPr>
              <a:t>Workday/IDC Research (2025). AI adoption in higher education.</a:t>
            </a:r>
            <a:endParaRPr lang="en-US" sz="1500" dirty="0"/>
          </a:p>
        </p:txBody>
      </p:sp>
      <p:sp>
        <p:nvSpPr>
          <p:cNvPr id="11" name="Text 9"/>
          <p:cNvSpPr/>
          <p:nvPr/>
        </p:nvSpPr>
        <p:spPr>
          <a:xfrm>
            <a:off x="523875" y="4252764"/>
            <a:ext cx="8258175" cy="266700"/>
          </a:xfrm>
          <a:prstGeom prst="rect">
            <a:avLst/>
          </a:prstGeom>
          <a:noFill/>
          <a:ln/>
        </p:spPr>
        <p:txBody>
          <a:bodyPr wrap="square" lIns="0" tIns="0" rIns="0" bIns="0" rtlCol="0" anchor="t"/>
          <a:lstStyle/>
          <a:p>
            <a:pPr algn="l" indent="0" marL="0">
              <a:lnSpc>
                <a:spcPts val="2100"/>
              </a:lnSpc>
              <a:spcBef>
                <a:spcPts val="1125"/>
              </a:spcBef>
              <a:spcAft>
                <a:spcPts val="300"/>
              </a:spcAft>
              <a:buNone/>
            </a:pPr>
            <a:r>
              <a:rPr lang="en-US" sz="1500" i="1" dirty="0">
                <a:solidFill>
                  <a:srgbClr val="1D1D1D"/>
                </a:solidFill>
                <a:latin typeface="Arial" pitchFamily="34" charset="0"/>
                <a:ea typeface="Arial" pitchFamily="34" charset="-122"/>
                <a:cs typeface="Arial" pitchFamily="34" charset="-120"/>
              </a:rPr>
              <a:t>Additional: Forbes (2024), GovTech (2024), EDUCAUSE (2025), Cengage Group (2024)</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and Opportunities of AI in Higher Education</dc:title>
  <dc:subject>AI in Education Seminar</dc:subject>
  <dc:creator>AI in Higher Education Expert</dc:creator>
  <cp:lastModifiedBy>AI in Higher Education Expert</cp:lastModifiedBy>
  <cp:revision>1</cp:revision>
  <dcterms:created xsi:type="dcterms:W3CDTF">2025-11-02T15:45:32Z</dcterms:created>
  <dcterms:modified xsi:type="dcterms:W3CDTF">2025-11-02T15:45:32Z</dcterms:modified>
</cp:coreProperties>
</file>